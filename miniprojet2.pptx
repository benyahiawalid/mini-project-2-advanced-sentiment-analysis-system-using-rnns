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0" r:id="rId5"/>
  </p:sldMasterIdLst>
  <p:notesMasterIdLst>
    <p:notesMasterId r:id="rId30"/>
  </p:notesMasterIdLst>
  <p:sldIdLst>
    <p:sldId id="300" r:id="rId6"/>
    <p:sldId id="303" r:id="rId7"/>
    <p:sldId id="298" r:id="rId8"/>
    <p:sldId id="301" r:id="rId9"/>
    <p:sldId id="290" r:id="rId10"/>
    <p:sldId id="294" r:id="rId11"/>
    <p:sldId id="295" r:id="rId12"/>
    <p:sldId id="293" r:id="rId13"/>
    <p:sldId id="304" r:id="rId14"/>
    <p:sldId id="292" r:id="rId15"/>
    <p:sldId id="297" r:id="rId16"/>
    <p:sldId id="296" r:id="rId17"/>
    <p:sldId id="305" r:id="rId18"/>
    <p:sldId id="289" r:id="rId19"/>
    <p:sldId id="282" r:id="rId20"/>
    <p:sldId id="285" r:id="rId21"/>
    <p:sldId id="287" r:id="rId22"/>
    <p:sldId id="288" r:id="rId23"/>
    <p:sldId id="262" r:id="rId24"/>
    <p:sldId id="263" r:id="rId25"/>
    <p:sldId id="278" r:id="rId26"/>
    <p:sldId id="267" r:id="rId27"/>
    <p:sldId id="279" r:id="rId28"/>
    <p:sldId id="280" r:id="rId29"/>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379005-742C-461A-A31A-C69F688C7555}" v="1005" dt="2026-04-02T11:36:03.826"/>
    <p1510:client id="{81DC6A4A-0EDD-4A99-91FA-ED8E6AEE9023}" v="198" dt="2026-04-02T14:54:33.623"/>
    <p1510:client id="{C9A99FD3-A876-4A16-BEDA-AB0425730DB6}" v="673" dt="2026-04-04T02:26:04.7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5" d="100"/>
          <a:sy n="115" d="100"/>
        </p:scale>
        <p:origin x="70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notesMaster" Target="notesMasters/notesMaster1.xml"/><Relationship Id="rId35" Type="http://schemas.microsoft.com/office/2015/10/relationships/revisionInfo" Target="revisionInfo.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75A365-DADC-4B50-97EF-ABC5B5E1500F}" type="datetimeFigureOut">
              <a:rPr lang="fr-CA" smtClean="0"/>
              <a:t>2026-04-03</a:t>
            </a:fld>
            <a:endParaRPr lang="fr-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9F48A8-980A-45D8-94EC-2F5E8E02F5D3}" type="slidenum">
              <a:rPr lang="fr-CA" smtClean="0"/>
              <a:t>‹#›</a:t>
            </a:fld>
            <a:endParaRPr lang="fr-CA"/>
          </a:p>
        </p:txBody>
      </p:sp>
    </p:spTree>
    <p:extLst>
      <p:ext uri="{BB962C8B-B14F-4D97-AF65-F5344CB8AC3E}">
        <p14:creationId xmlns:p14="http://schemas.microsoft.com/office/powerpoint/2010/main" val="9788806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CA"/>
              <a:t>Nettoyage, transforme le texte en nombre, force les séquence a avoir une même longueur de 200 ,</a:t>
            </a:r>
            <a:r>
              <a:rPr lang="fr-CA" err="1"/>
              <a:t>prediction</a:t>
            </a:r>
            <a:r>
              <a:rPr lang="fr-CA"/>
              <a:t>,</a:t>
            </a:r>
          </a:p>
        </p:txBody>
      </p:sp>
      <p:sp>
        <p:nvSpPr>
          <p:cNvPr id="4" name="Slide Number Placeholder 3"/>
          <p:cNvSpPr>
            <a:spLocks noGrp="1"/>
          </p:cNvSpPr>
          <p:nvPr>
            <p:ph type="sldNum" sz="quarter" idx="5"/>
          </p:nvPr>
        </p:nvSpPr>
        <p:spPr/>
        <p:txBody>
          <a:bodyPr/>
          <a:lstStyle/>
          <a:p>
            <a:fld id="{5B9F48A8-980A-45D8-94EC-2F5E8E02F5D3}" type="slidenum">
              <a:rPr lang="fr-CA" smtClean="0"/>
              <a:t>14</a:t>
            </a:fld>
            <a:endParaRPr lang="fr-CA"/>
          </a:p>
        </p:txBody>
      </p:sp>
    </p:spTree>
    <p:extLst>
      <p:ext uri="{BB962C8B-B14F-4D97-AF65-F5344CB8AC3E}">
        <p14:creationId xmlns:p14="http://schemas.microsoft.com/office/powerpoint/2010/main" val="4744814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a:t>objet qui va transformer modèle </a:t>
            </a:r>
            <a:r>
              <a:rPr lang="fr-FR" err="1"/>
              <a:t>Keras</a:t>
            </a:r>
            <a:r>
              <a:rPr lang="fr-FR"/>
              <a:t> en modèle </a:t>
            </a:r>
            <a:r>
              <a:rPr lang="fr-FR" err="1"/>
              <a:t>TensorFlow</a:t>
            </a:r>
            <a:r>
              <a:rPr lang="fr-FR"/>
              <a:t> Lite, On indique quelles opérations sont autorisées, o</a:t>
            </a:r>
            <a:r>
              <a:rPr lang="fr-CA" err="1"/>
              <a:t>pérations</a:t>
            </a:r>
            <a:r>
              <a:rPr lang="fr-CA"/>
              <a:t> natives de </a:t>
            </a:r>
            <a:r>
              <a:rPr lang="fr-CA" err="1"/>
              <a:t>TFLite</a:t>
            </a:r>
            <a:r>
              <a:rPr lang="fr-CA"/>
              <a:t>, </a:t>
            </a:r>
            <a:r>
              <a:rPr lang="fr-FR"/>
              <a:t>permet d’utiliser certaines opérations </a:t>
            </a:r>
            <a:r>
              <a:rPr lang="fr-FR" err="1"/>
              <a:t>TensorFlow</a:t>
            </a:r>
            <a:r>
              <a:rPr lang="fr-FR"/>
              <a:t> non supportées par défaut, désactive une optimisation expérimentale liée aux listes de tenseurs, conversion, sauvegarde.</a:t>
            </a:r>
            <a:endParaRPr lang="fr-CA"/>
          </a:p>
        </p:txBody>
      </p:sp>
      <p:sp>
        <p:nvSpPr>
          <p:cNvPr id="4" name="Slide Number Placeholder 3"/>
          <p:cNvSpPr>
            <a:spLocks noGrp="1"/>
          </p:cNvSpPr>
          <p:nvPr>
            <p:ph type="sldNum" sz="quarter" idx="5"/>
          </p:nvPr>
        </p:nvSpPr>
        <p:spPr/>
        <p:txBody>
          <a:bodyPr/>
          <a:lstStyle/>
          <a:p>
            <a:fld id="{5B9F48A8-980A-45D8-94EC-2F5E8E02F5D3}" type="slidenum">
              <a:rPr lang="fr-CA" smtClean="0"/>
              <a:t>17</a:t>
            </a:fld>
            <a:endParaRPr lang="fr-CA"/>
          </a:p>
        </p:txBody>
      </p:sp>
    </p:spTree>
    <p:extLst>
      <p:ext uri="{BB962C8B-B14F-4D97-AF65-F5344CB8AC3E}">
        <p14:creationId xmlns:p14="http://schemas.microsoft.com/office/powerpoint/2010/main" val="16666670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fld id="{5B9F48A8-980A-45D8-94EC-2F5E8E02F5D3}" type="slidenum">
              <a:rPr lang="fr-CA" smtClean="0"/>
              <a:t>18</a:t>
            </a:fld>
            <a:endParaRPr lang="fr-CA"/>
          </a:p>
        </p:txBody>
      </p:sp>
    </p:spTree>
    <p:extLst>
      <p:ext uri="{BB962C8B-B14F-4D97-AF65-F5344CB8AC3E}">
        <p14:creationId xmlns:p14="http://schemas.microsoft.com/office/powerpoint/2010/main" val="29818923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14344EA-FC10-6AEC-7C41-AC3F9C291D67}"/>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CA"/>
          </a:p>
        </p:txBody>
      </p:sp>
      <p:sp>
        <p:nvSpPr>
          <p:cNvPr id="3" name="Sous-titre 2">
            <a:extLst>
              <a:ext uri="{FF2B5EF4-FFF2-40B4-BE49-F238E27FC236}">
                <a16:creationId xmlns:a16="http://schemas.microsoft.com/office/drawing/2014/main" id="{D86D961E-C18D-7873-E78F-AA8C95141A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CA"/>
          </a:p>
        </p:txBody>
      </p:sp>
      <p:sp>
        <p:nvSpPr>
          <p:cNvPr id="4" name="Espace réservé de la date 3">
            <a:extLst>
              <a:ext uri="{FF2B5EF4-FFF2-40B4-BE49-F238E27FC236}">
                <a16:creationId xmlns:a16="http://schemas.microsoft.com/office/drawing/2014/main" id="{B841BD0B-0D8A-9F9B-7CA5-42B158140536}"/>
              </a:ext>
            </a:extLst>
          </p:cNvPr>
          <p:cNvSpPr>
            <a:spLocks noGrp="1"/>
          </p:cNvSpPr>
          <p:nvPr>
            <p:ph type="dt" sz="half" idx="10"/>
          </p:nvPr>
        </p:nvSpPr>
        <p:spPr/>
        <p:txBody>
          <a:bodyPr/>
          <a:lstStyle/>
          <a:p>
            <a:fld id="{C4016F9F-38FF-4B51-BE6E-F10869CD40D9}" type="datetimeFigureOut">
              <a:rPr lang="fr-CA" smtClean="0"/>
              <a:t>2026-04-03</a:t>
            </a:fld>
            <a:endParaRPr lang="fr-CA"/>
          </a:p>
        </p:txBody>
      </p:sp>
      <p:sp>
        <p:nvSpPr>
          <p:cNvPr id="5" name="Espace réservé du pied de page 4">
            <a:extLst>
              <a:ext uri="{FF2B5EF4-FFF2-40B4-BE49-F238E27FC236}">
                <a16:creationId xmlns:a16="http://schemas.microsoft.com/office/drawing/2014/main" id="{7CEDF3F8-6AFD-45B2-EFD3-67090C1A3888}"/>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62679178-8C71-56AB-B067-78838C79A4BE}"/>
              </a:ext>
            </a:extLst>
          </p:cNvPr>
          <p:cNvSpPr>
            <a:spLocks noGrp="1"/>
          </p:cNvSpPr>
          <p:nvPr>
            <p:ph type="sldNum" sz="quarter" idx="12"/>
          </p:nvPr>
        </p:nvSpPr>
        <p:spPr/>
        <p:txBody>
          <a:bodyPr/>
          <a:lstStyle/>
          <a:p>
            <a:fld id="{273F87CF-38E8-4B91-BF41-BAA5CBE60A23}" type="slidenum">
              <a:rPr lang="fr-CA" smtClean="0"/>
              <a:t>‹#›</a:t>
            </a:fld>
            <a:endParaRPr lang="fr-CA"/>
          </a:p>
        </p:txBody>
      </p:sp>
    </p:spTree>
    <p:extLst>
      <p:ext uri="{BB962C8B-B14F-4D97-AF65-F5344CB8AC3E}">
        <p14:creationId xmlns:p14="http://schemas.microsoft.com/office/powerpoint/2010/main" val="2311652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75790C1-CEF8-AD00-EC2D-97171B6868CA}"/>
              </a:ext>
            </a:extLst>
          </p:cNvPr>
          <p:cNvSpPr>
            <a:spLocks noGrp="1"/>
          </p:cNvSpPr>
          <p:nvPr>
            <p:ph type="title"/>
          </p:nvPr>
        </p:nvSpPr>
        <p:spPr/>
        <p:txBody>
          <a:bodyPr/>
          <a:lstStyle/>
          <a:p>
            <a:r>
              <a:rPr lang="fr-FR"/>
              <a:t>Modifiez le style du titre</a:t>
            </a:r>
            <a:endParaRPr lang="fr-CA"/>
          </a:p>
        </p:txBody>
      </p:sp>
      <p:sp>
        <p:nvSpPr>
          <p:cNvPr id="3" name="Espace réservé du contenu 2">
            <a:extLst>
              <a:ext uri="{FF2B5EF4-FFF2-40B4-BE49-F238E27FC236}">
                <a16:creationId xmlns:a16="http://schemas.microsoft.com/office/drawing/2014/main" id="{B8DFBEEF-C4ED-BAC5-E4C1-6BB7E4269B57}"/>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442A9FEC-2C21-131C-53D4-D9E2239CE00A}"/>
              </a:ext>
            </a:extLst>
          </p:cNvPr>
          <p:cNvSpPr>
            <a:spLocks noGrp="1"/>
          </p:cNvSpPr>
          <p:nvPr>
            <p:ph type="dt" sz="half" idx="10"/>
          </p:nvPr>
        </p:nvSpPr>
        <p:spPr/>
        <p:txBody>
          <a:bodyPr/>
          <a:lstStyle/>
          <a:p>
            <a:fld id="{C4016F9F-38FF-4B51-BE6E-F10869CD40D9}" type="datetimeFigureOut">
              <a:rPr lang="fr-CA" smtClean="0"/>
              <a:t>2026-04-03</a:t>
            </a:fld>
            <a:endParaRPr lang="fr-CA"/>
          </a:p>
        </p:txBody>
      </p:sp>
      <p:sp>
        <p:nvSpPr>
          <p:cNvPr id="5" name="Espace réservé du pied de page 4">
            <a:extLst>
              <a:ext uri="{FF2B5EF4-FFF2-40B4-BE49-F238E27FC236}">
                <a16:creationId xmlns:a16="http://schemas.microsoft.com/office/drawing/2014/main" id="{BF924FF3-7C3E-B9C9-3DC9-E6D2C6A27000}"/>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E52FD3C8-CA05-967F-29DF-A08A1EF49066}"/>
              </a:ext>
            </a:extLst>
          </p:cNvPr>
          <p:cNvSpPr>
            <a:spLocks noGrp="1"/>
          </p:cNvSpPr>
          <p:nvPr>
            <p:ph type="sldNum" sz="quarter" idx="12"/>
          </p:nvPr>
        </p:nvSpPr>
        <p:spPr/>
        <p:txBody>
          <a:bodyPr/>
          <a:lstStyle/>
          <a:p>
            <a:fld id="{273F87CF-38E8-4B91-BF41-BAA5CBE60A23}" type="slidenum">
              <a:rPr lang="fr-CA" smtClean="0"/>
              <a:t>‹#›</a:t>
            </a:fld>
            <a:endParaRPr lang="fr-CA"/>
          </a:p>
        </p:txBody>
      </p:sp>
    </p:spTree>
    <p:extLst>
      <p:ext uri="{BB962C8B-B14F-4D97-AF65-F5344CB8AC3E}">
        <p14:creationId xmlns:p14="http://schemas.microsoft.com/office/powerpoint/2010/main" val="23945370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542402-9950-EB90-EF19-63F4C899D25C}"/>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CA"/>
          </a:p>
        </p:txBody>
      </p:sp>
      <p:sp>
        <p:nvSpPr>
          <p:cNvPr id="3" name="Espace réservé du texte 2">
            <a:extLst>
              <a:ext uri="{FF2B5EF4-FFF2-40B4-BE49-F238E27FC236}">
                <a16:creationId xmlns:a16="http://schemas.microsoft.com/office/drawing/2014/main" id="{CEF7EC61-E2A5-105B-DB76-5E4A2D2C1AE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771DA4C9-FC80-CAE8-663E-67CF76D43730}"/>
              </a:ext>
            </a:extLst>
          </p:cNvPr>
          <p:cNvSpPr>
            <a:spLocks noGrp="1"/>
          </p:cNvSpPr>
          <p:nvPr>
            <p:ph type="dt" sz="half" idx="10"/>
          </p:nvPr>
        </p:nvSpPr>
        <p:spPr/>
        <p:txBody>
          <a:bodyPr/>
          <a:lstStyle/>
          <a:p>
            <a:fld id="{C4016F9F-38FF-4B51-BE6E-F10869CD40D9}" type="datetimeFigureOut">
              <a:rPr lang="fr-CA" smtClean="0"/>
              <a:t>2026-04-03</a:t>
            </a:fld>
            <a:endParaRPr lang="fr-CA"/>
          </a:p>
        </p:txBody>
      </p:sp>
      <p:sp>
        <p:nvSpPr>
          <p:cNvPr id="5" name="Espace réservé du pied de page 4">
            <a:extLst>
              <a:ext uri="{FF2B5EF4-FFF2-40B4-BE49-F238E27FC236}">
                <a16:creationId xmlns:a16="http://schemas.microsoft.com/office/drawing/2014/main" id="{0FD1C2CE-66A8-1E4C-7076-8DA42DB4434A}"/>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3747006B-5008-383D-187B-76448D25A3D8}"/>
              </a:ext>
            </a:extLst>
          </p:cNvPr>
          <p:cNvSpPr>
            <a:spLocks noGrp="1"/>
          </p:cNvSpPr>
          <p:nvPr>
            <p:ph type="sldNum" sz="quarter" idx="12"/>
          </p:nvPr>
        </p:nvSpPr>
        <p:spPr/>
        <p:txBody>
          <a:bodyPr/>
          <a:lstStyle/>
          <a:p>
            <a:fld id="{273F87CF-38E8-4B91-BF41-BAA5CBE60A23}" type="slidenum">
              <a:rPr lang="fr-CA" smtClean="0"/>
              <a:t>‹#›</a:t>
            </a:fld>
            <a:endParaRPr lang="fr-CA"/>
          </a:p>
        </p:txBody>
      </p:sp>
    </p:spTree>
    <p:extLst>
      <p:ext uri="{BB962C8B-B14F-4D97-AF65-F5344CB8AC3E}">
        <p14:creationId xmlns:p14="http://schemas.microsoft.com/office/powerpoint/2010/main" val="9583450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C5B8D16-D3CD-0BEC-F322-DAC19557DFC9}"/>
              </a:ext>
            </a:extLst>
          </p:cNvPr>
          <p:cNvSpPr>
            <a:spLocks noGrp="1"/>
          </p:cNvSpPr>
          <p:nvPr>
            <p:ph type="title"/>
          </p:nvPr>
        </p:nvSpPr>
        <p:spPr/>
        <p:txBody>
          <a:bodyPr/>
          <a:lstStyle/>
          <a:p>
            <a:r>
              <a:rPr lang="fr-FR"/>
              <a:t>Modifiez le style du titre</a:t>
            </a:r>
            <a:endParaRPr lang="fr-CA"/>
          </a:p>
        </p:txBody>
      </p:sp>
      <p:sp>
        <p:nvSpPr>
          <p:cNvPr id="3" name="Espace réservé du contenu 2">
            <a:extLst>
              <a:ext uri="{FF2B5EF4-FFF2-40B4-BE49-F238E27FC236}">
                <a16:creationId xmlns:a16="http://schemas.microsoft.com/office/drawing/2014/main" id="{7977F712-4A15-0CBA-BF11-DECBC53D21B0}"/>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a:extLst>
              <a:ext uri="{FF2B5EF4-FFF2-40B4-BE49-F238E27FC236}">
                <a16:creationId xmlns:a16="http://schemas.microsoft.com/office/drawing/2014/main" id="{D3A18055-ACF1-5153-76E1-E993D808ABF4}"/>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e la date 4">
            <a:extLst>
              <a:ext uri="{FF2B5EF4-FFF2-40B4-BE49-F238E27FC236}">
                <a16:creationId xmlns:a16="http://schemas.microsoft.com/office/drawing/2014/main" id="{471CB460-DD0B-A22E-84D5-A5E96587E7F4}"/>
              </a:ext>
            </a:extLst>
          </p:cNvPr>
          <p:cNvSpPr>
            <a:spLocks noGrp="1"/>
          </p:cNvSpPr>
          <p:nvPr>
            <p:ph type="dt" sz="half" idx="10"/>
          </p:nvPr>
        </p:nvSpPr>
        <p:spPr/>
        <p:txBody>
          <a:bodyPr/>
          <a:lstStyle/>
          <a:p>
            <a:fld id="{C4016F9F-38FF-4B51-BE6E-F10869CD40D9}" type="datetimeFigureOut">
              <a:rPr lang="fr-CA" smtClean="0"/>
              <a:t>2026-04-03</a:t>
            </a:fld>
            <a:endParaRPr lang="fr-CA"/>
          </a:p>
        </p:txBody>
      </p:sp>
      <p:sp>
        <p:nvSpPr>
          <p:cNvPr id="6" name="Espace réservé du pied de page 5">
            <a:extLst>
              <a:ext uri="{FF2B5EF4-FFF2-40B4-BE49-F238E27FC236}">
                <a16:creationId xmlns:a16="http://schemas.microsoft.com/office/drawing/2014/main" id="{27992D12-F059-A96E-44BB-924893E01D45}"/>
              </a:ext>
            </a:extLst>
          </p:cNvPr>
          <p:cNvSpPr>
            <a:spLocks noGrp="1"/>
          </p:cNvSpPr>
          <p:nvPr>
            <p:ph type="ftr" sz="quarter" idx="11"/>
          </p:nvPr>
        </p:nvSpPr>
        <p:spPr/>
        <p:txBody>
          <a:bodyPr/>
          <a:lstStyle/>
          <a:p>
            <a:endParaRPr lang="fr-CA"/>
          </a:p>
        </p:txBody>
      </p:sp>
      <p:sp>
        <p:nvSpPr>
          <p:cNvPr id="7" name="Espace réservé du numéro de diapositive 6">
            <a:extLst>
              <a:ext uri="{FF2B5EF4-FFF2-40B4-BE49-F238E27FC236}">
                <a16:creationId xmlns:a16="http://schemas.microsoft.com/office/drawing/2014/main" id="{C8101D8B-D49F-115C-A3A5-EF5ECAC881D5}"/>
              </a:ext>
            </a:extLst>
          </p:cNvPr>
          <p:cNvSpPr>
            <a:spLocks noGrp="1"/>
          </p:cNvSpPr>
          <p:nvPr>
            <p:ph type="sldNum" sz="quarter" idx="12"/>
          </p:nvPr>
        </p:nvSpPr>
        <p:spPr/>
        <p:txBody>
          <a:bodyPr/>
          <a:lstStyle/>
          <a:p>
            <a:fld id="{273F87CF-38E8-4B91-BF41-BAA5CBE60A23}" type="slidenum">
              <a:rPr lang="fr-CA" smtClean="0"/>
              <a:t>‹#›</a:t>
            </a:fld>
            <a:endParaRPr lang="fr-CA"/>
          </a:p>
        </p:txBody>
      </p:sp>
    </p:spTree>
    <p:extLst>
      <p:ext uri="{BB962C8B-B14F-4D97-AF65-F5344CB8AC3E}">
        <p14:creationId xmlns:p14="http://schemas.microsoft.com/office/powerpoint/2010/main" val="15110386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7809349-920E-CBDF-DD4B-B7EB9BA9828D}"/>
              </a:ext>
            </a:extLst>
          </p:cNvPr>
          <p:cNvSpPr>
            <a:spLocks noGrp="1"/>
          </p:cNvSpPr>
          <p:nvPr>
            <p:ph type="title"/>
          </p:nvPr>
        </p:nvSpPr>
        <p:spPr>
          <a:xfrm>
            <a:off x="839788" y="365125"/>
            <a:ext cx="10515600" cy="1325563"/>
          </a:xfrm>
        </p:spPr>
        <p:txBody>
          <a:bodyPr/>
          <a:lstStyle/>
          <a:p>
            <a:r>
              <a:rPr lang="fr-FR"/>
              <a:t>Modifiez le style du titre</a:t>
            </a:r>
            <a:endParaRPr lang="fr-CA"/>
          </a:p>
        </p:txBody>
      </p:sp>
      <p:sp>
        <p:nvSpPr>
          <p:cNvPr id="3" name="Espace réservé du texte 2">
            <a:extLst>
              <a:ext uri="{FF2B5EF4-FFF2-40B4-BE49-F238E27FC236}">
                <a16:creationId xmlns:a16="http://schemas.microsoft.com/office/drawing/2014/main" id="{DC280A07-D185-6344-EE60-892394FE5FD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2BBDC1CB-1E47-9C05-91B7-1D5AEE0AEDE4}"/>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u texte 4">
            <a:extLst>
              <a:ext uri="{FF2B5EF4-FFF2-40B4-BE49-F238E27FC236}">
                <a16:creationId xmlns:a16="http://schemas.microsoft.com/office/drawing/2014/main" id="{860BC177-3BF7-CDF3-58AC-CA02515BB41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24CA2EBD-86D6-0ACB-899D-69F7842C97F0}"/>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7" name="Espace réservé de la date 6">
            <a:extLst>
              <a:ext uri="{FF2B5EF4-FFF2-40B4-BE49-F238E27FC236}">
                <a16:creationId xmlns:a16="http://schemas.microsoft.com/office/drawing/2014/main" id="{D9AFBB38-BFAD-8E63-397F-361C9A897189}"/>
              </a:ext>
            </a:extLst>
          </p:cNvPr>
          <p:cNvSpPr>
            <a:spLocks noGrp="1"/>
          </p:cNvSpPr>
          <p:nvPr>
            <p:ph type="dt" sz="half" idx="10"/>
          </p:nvPr>
        </p:nvSpPr>
        <p:spPr/>
        <p:txBody>
          <a:bodyPr/>
          <a:lstStyle/>
          <a:p>
            <a:fld id="{C4016F9F-38FF-4B51-BE6E-F10869CD40D9}" type="datetimeFigureOut">
              <a:rPr lang="fr-CA" smtClean="0"/>
              <a:t>2026-04-03</a:t>
            </a:fld>
            <a:endParaRPr lang="fr-CA"/>
          </a:p>
        </p:txBody>
      </p:sp>
      <p:sp>
        <p:nvSpPr>
          <p:cNvPr id="8" name="Espace réservé du pied de page 7">
            <a:extLst>
              <a:ext uri="{FF2B5EF4-FFF2-40B4-BE49-F238E27FC236}">
                <a16:creationId xmlns:a16="http://schemas.microsoft.com/office/drawing/2014/main" id="{47F8DB89-41BF-D75D-6A12-9DEC76EFF76D}"/>
              </a:ext>
            </a:extLst>
          </p:cNvPr>
          <p:cNvSpPr>
            <a:spLocks noGrp="1"/>
          </p:cNvSpPr>
          <p:nvPr>
            <p:ph type="ftr" sz="quarter" idx="11"/>
          </p:nvPr>
        </p:nvSpPr>
        <p:spPr/>
        <p:txBody>
          <a:bodyPr/>
          <a:lstStyle/>
          <a:p>
            <a:endParaRPr lang="fr-CA"/>
          </a:p>
        </p:txBody>
      </p:sp>
      <p:sp>
        <p:nvSpPr>
          <p:cNvPr id="9" name="Espace réservé du numéro de diapositive 8">
            <a:extLst>
              <a:ext uri="{FF2B5EF4-FFF2-40B4-BE49-F238E27FC236}">
                <a16:creationId xmlns:a16="http://schemas.microsoft.com/office/drawing/2014/main" id="{680614F6-830E-E44C-2FB1-E7C3EDE25ADE}"/>
              </a:ext>
            </a:extLst>
          </p:cNvPr>
          <p:cNvSpPr>
            <a:spLocks noGrp="1"/>
          </p:cNvSpPr>
          <p:nvPr>
            <p:ph type="sldNum" sz="quarter" idx="12"/>
          </p:nvPr>
        </p:nvSpPr>
        <p:spPr/>
        <p:txBody>
          <a:bodyPr/>
          <a:lstStyle/>
          <a:p>
            <a:fld id="{273F87CF-38E8-4B91-BF41-BAA5CBE60A23}" type="slidenum">
              <a:rPr lang="fr-CA" smtClean="0"/>
              <a:t>‹#›</a:t>
            </a:fld>
            <a:endParaRPr lang="fr-CA"/>
          </a:p>
        </p:txBody>
      </p:sp>
    </p:spTree>
    <p:extLst>
      <p:ext uri="{BB962C8B-B14F-4D97-AF65-F5344CB8AC3E}">
        <p14:creationId xmlns:p14="http://schemas.microsoft.com/office/powerpoint/2010/main" val="33101685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86999D0-56BC-4139-4975-F6C3FC3D8BB5}"/>
              </a:ext>
            </a:extLst>
          </p:cNvPr>
          <p:cNvSpPr>
            <a:spLocks noGrp="1"/>
          </p:cNvSpPr>
          <p:nvPr>
            <p:ph type="title"/>
          </p:nvPr>
        </p:nvSpPr>
        <p:spPr/>
        <p:txBody>
          <a:bodyPr/>
          <a:lstStyle/>
          <a:p>
            <a:r>
              <a:rPr lang="fr-FR"/>
              <a:t>Modifiez le style du titre</a:t>
            </a:r>
            <a:endParaRPr lang="fr-CA"/>
          </a:p>
        </p:txBody>
      </p:sp>
      <p:sp>
        <p:nvSpPr>
          <p:cNvPr id="3" name="Espace réservé de la date 2">
            <a:extLst>
              <a:ext uri="{FF2B5EF4-FFF2-40B4-BE49-F238E27FC236}">
                <a16:creationId xmlns:a16="http://schemas.microsoft.com/office/drawing/2014/main" id="{F227DBF4-8579-4751-0C07-221A4D5DEF5F}"/>
              </a:ext>
            </a:extLst>
          </p:cNvPr>
          <p:cNvSpPr>
            <a:spLocks noGrp="1"/>
          </p:cNvSpPr>
          <p:nvPr>
            <p:ph type="dt" sz="half" idx="10"/>
          </p:nvPr>
        </p:nvSpPr>
        <p:spPr/>
        <p:txBody>
          <a:bodyPr/>
          <a:lstStyle/>
          <a:p>
            <a:fld id="{C4016F9F-38FF-4B51-BE6E-F10869CD40D9}" type="datetimeFigureOut">
              <a:rPr lang="fr-CA" smtClean="0"/>
              <a:t>2026-04-03</a:t>
            </a:fld>
            <a:endParaRPr lang="fr-CA"/>
          </a:p>
        </p:txBody>
      </p:sp>
      <p:sp>
        <p:nvSpPr>
          <p:cNvPr id="4" name="Espace réservé du pied de page 3">
            <a:extLst>
              <a:ext uri="{FF2B5EF4-FFF2-40B4-BE49-F238E27FC236}">
                <a16:creationId xmlns:a16="http://schemas.microsoft.com/office/drawing/2014/main" id="{6BBC9FE5-04DF-87CF-E3F0-3E7D6E00B8CD}"/>
              </a:ext>
            </a:extLst>
          </p:cNvPr>
          <p:cNvSpPr>
            <a:spLocks noGrp="1"/>
          </p:cNvSpPr>
          <p:nvPr>
            <p:ph type="ftr" sz="quarter" idx="11"/>
          </p:nvPr>
        </p:nvSpPr>
        <p:spPr/>
        <p:txBody>
          <a:bodyPr/>
          <a:lstStyle/>
          <a:p>
            <a:endParaRPr lang="fr-CA"/>
          </a:p>
        </p:txBody>
      </p:sp>
      <p:sp>
        <p:nvSpPr>
          <p:cNvPr id="5" name="Espace réservé du numéro de diapositive 4">
            <a:extLst>
              <a:ext uri="{FF2B5EF4-FFF2-40B4-BE49-F238E27FC236}">
                <a16:creationId xmlns:a16="http://schemas.microsoft.com/office/drawing/2014/main" id="{E9F38AA7-873F-7112-8A24-5437C81DE051}"/>
              </a:ext>
            </a:extLst>
          </p:cNvPr>
          <p:cNvSpPr>
            <a:spLocks noGrp="1"/>
          </p:cNvSpPr>
          <p:nvPr>
            <p:ph type="sldNum" sz="quarter" idx="12"/>
          </p:nvPr>
        </p:nvSpPr>
        <p:spPr/>
        <p:txBody>
          <a:bodyPr/>
          <a:lstStyle/>
          <a:p>
            <a:fld id="{273F87CF-38E8-4B91-BF41-BAA5CBE60A23}" type="slidenum">
              <a:rPr lang="fr-CA" smtClean="0"/>
              <a:t>‹#›</a:t>
            </a:fld>
            <a:endParaRPr lang="fr-CA"/>
          </a:p>
        </p:txBody>
      </p:sp>
    </p:spTree>
    <p:extLst>
      <p:ext uri="{BB962C8B-B14F-4D97-AF65-F5344CB8AC3E}">
        <p14:creationId xmlns:p14="http://schemas.microsoft.com/office/powerpoint/2010/main" val="13465466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63B60335-0F9B-90B1-0EFF-F31AAD5A9249}"/>
              </a:ext>
            </a:extLst>
          </p:cNvPr>
          <p:cNvSpPr>
            <a:spLocks noGrp="1"/>
          </p:cNvSpPr>
          <p:nvPr>
            <p:ph type="dt" sz="half" idx="10"/>
          </p:nvPr>
        </p:nvSpPr>
        <p:spPr/>
        <p:txBody>
          <a:bodyPr/>
          <a:lstStyle/>
          <a:p>
            <a:fld id="{C4016F9F-38FF-4B51-BE6E-F10869CD40D9}" type="datetimeFigureOut">
              <a:rPr lang="fr-CA" smtClean="0"/>
              <a:t>2026-04-03</a:t>
            </a:fld>
            <a:endParaRPr lang="fr-CA"/>
          </a:p>
        </p:txBody>
      </p:sp>
      <p:sp>
        <p:nvSpPr>
          <p:cNvPr id="3" name="Espace réservé du pied de page 2">
            <a:extLst>
              <a:ext uri="{FF2B5EF4-FFF2-40B4-BE49-F238E27FC236}">
                <a16:creationId xmlns:a16="http://schemas.microsoft.com/office/drawing/2014/main" id="{B35E04B1-952F-87D3-67E3-FB405FA2DF58}"/>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F0D4DE3B-D329-2C82-BDDB-D54F3DFCE50A}"/>
              </a:ext>
            </a:extLst>
          </p:cNvPr>
          <p:cNvSpPr>
            <a:spLocks noGrp="1"/>
          </p:cNvSpPr>
          <p:nvPr>
            <p:ph type="sldNum" sz="quarter" idx="12"/>
          </p:nvPr>
        </p:nvSpPr>
        <p:spPr/>
        <p:txBody>
          <a:bodyPr/>
          <a:lstStyle/>
          <a:p>
            <a:fld id="{273F87CF-38E8-4B91-BF41-BAA5CBE60A23}" type="slidenum">
              <a:rPr lang="fr-CA" smtClean="0"/>
              <a:t>‹#›</a:t>
            </a:fld>
            <a:endParaRPr lang="fr-CA"/>
          </a:p>
        </p:txBody>
      </p:sp>
    </p:spTree>
    <p:extLst>
      <p:ext uri="{BB962C8B-B14F-4D97-AF65-F5344CB8AC3E}">
        <p14:creationId xmlns:p14="http://schemas.microsoft.com/office/powerpoint/2010/main" val="36532948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936E17E-2CB8-8847-4DDF-1EACA4BED97A}"/>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du contenu 2">
            <a:extLst>
              <a:ext uri="{FF2B5EF4-FFF2-40B4-BE49-F238E27FC236}">
                <a16:creationId xmlns:a16="http://schemas.microsoft.com/office/drawing/2014/main" id="{DA1CFAD9-838D-51BB-4354-E2C5D1AC91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texte 3">
            <a:extLst>
              <a:ext uri="{FF2B5EF4-FFF2-40B4-BE49-F238E27FC236}">
                <a16:creationId xmlns:a16="http://schemas.microsoft.com/office/drawing/2014/main" id="{84C0A466-5718-1EB5-3288-2F498CDCD1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4DAC01F6-2FD7-F500-43B1-0E71274CF0CA}"/>
              </a:ext>
            </a:extLst>
          </p:cNvPr>
          <p:cNvSpPr>
            <a:spLocks noGrp="1"/>
          </p:cNvSpPr>
          <p:nvPr>
            <p:ph type="dt" sz="half" idx="10"/>
          </p:nvPr>
        </p:nvSpPr>
        <p:spPr/>
        <p:txBody>
          <a:bodyPr/>
          <a:lstStyle/>
          <a:p>
            <a:fld id="{C4016F9F-38FF-4B51-BE6E-F10869CD40D9}" type="datetimeFigureOut">
              <a:rPr lang="fr-CA" smtClean="0"/>
              <a:t>2026-04-03</a:t>
            </a:fld>
            <a:endParaRPr lang="fr-CA"/>
          </a:p>
        </p:txBody>
      </p:sp>
      <p:sp>
        <p:nvSpPr>
          <p:cNvPr id="6" name="Espace réservé du pied de page 5">
            <a:extLst>
              <a:ext uri="{FF2B5EF4-FFF2-40B4-BE49-F238E27FC236}">
                <a16:creationId xmlns:a16="http://schemas.microsoft.com/office/drawing/2014/main" id="{F5C04480-C876-D1B3-4225-E88E08DA2C2B}"/>
              </a:ext>
            </a:extLst>
          </p:cNvPr>
          <p:cNvSpPr>
            <a:spLocks noGrp="1"/>
          </p:cNvSpPr>
          <p:nvPr>
            <p:ph type="ftr" sz="quarter" idx="11"/>
          </p:nvPr>
        </p:nvSpPr>
        <p:spPr/>
        <p:txBody>
          <a:bodyPr/>
          <a:lstStyle/>
          <a:p>
            <a:endParaRPr lang="fr-CA"/>
          </a:p>
        </p:txBody>
      </p:sp>
      <p:sp>
        <p:nvSpPr>
          <p:cNvPr id="7" name="Espace réservé du numéro de diapositive 6">
            <a:extLst>
              <a:ext uri="{FF2B5EF4-FFF2-40B4-BE49-F238E27FC236}">
                <a16:creationId xmlns:a16="http://schemas.microsoft.com/office/drawing/2014/main" id="{21F5639B-934B-C248-CF06-E82B1E3C6C76}"/>
              </a:ext>
            </a:extLst>
          </p:cNvPr>
          <p:cNvSpPr>
            <a:spLocks noGrp="1"/>
          </p:cNvSpPr>
          <p:nvPr>
            <p:ph type="sldNum" sz="quarter" idx="12"/>
          </p:nvPr>
        </p:nvSpPr>
        <p:spPr/>
        <p:txBody>
          <a:bodyPr/>
          <a:lstStyle/>
          <a:p>
            <a:fld id="{273F87CF-38E8-4B91-BF41-BAA5CBE60A23}" type="slidenum">
              <a:rPr lang="fr-CA" smtClean="0"/>
              <a:t>‹#›</a:t>
            </a:fld>
            <a:endParaRPr lang="fr-CA"/>
          </a:p>
        </p:txBody>
      </p:sp>
    </p:spTree>
    <p:extLst>
      <p:ext uri="{BB962C8B-B14F-4D97-AF65-F5344CB8AC3E}">
        <p14:creationId xmlns:p14="http://schemas.microsoft.com/office/powerpoint/2010/main" val="29851540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86029AB-0FA7-109C-8268-80DD93694CE7}"/>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pour une image  2">
            <a:extLst>
              <a:ext uri="{FF2B5EF4-FFF2-40B4-BE49-F238E27FC236}">
                <a16:creationId xmlns:a16="http://schemas.microsoft.com/office/drawing/2014/main" id="{A16DB71F-4F30-531D-5869-3F16E039D0B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A"/>
          </a:p>
        </p:txBody>
      </p:sp>
      <p:sp>
        <p:nvSpPr>
          <p:cNvPr id="4" name="Espace réservé du texte 3">
            <a:extLst>
              <a:ext uri="{FF2B5EF4-FFF2-40B4-BE49-F238E27FC236}">
                <a16:creationId xmlns:a16="http://schemas.microsoft.com/office/drawing/2014/main" id="{EEAFCDD7-9473-4015-B7BF-E6DE19D85D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EBC71D78-A19B-121C-0343-3216A6E71F1A}"/>
              </a:ext>
            </a:extLst>
          </p:cNvPr>
          <p:cNvSpPr>
            <a:spLocks noGrp="1"/>
          </p:cNvSpPr>
          <p:nvPr>
            <p:ph type="dt" sz="half" idx="10"/>
          </p:nvPr>
        </p:nvSpPr>
        <p:spPr/>
        <p:txBody>
          <a:bodyPr/>
          <a:lstStyle/>
          <a:p>
            <a:fld id="{C4016F9F-38FF-4B51-BE6E-F10869CD40D9}" type="datetimeFigureOut">
              <a:rPr lang="fr-CA" smtClean="0"/>
              <a:t>2026-04-03</a:t>
            </a:fld>
            <a:endParaRPr lang="fr-CA"/>
          </a:p>
        </p:txBody>
      </p:sp>
      <p:sp>
        <p:nvSpPr>
          <p:cNvPr id="6" name="Espace réservé du pied de page 5">
            <a:extLst>
              <a:ext uri="{FF2B5EF4-FFF2-40B4-BE49-F238E27FC236}">
                <a16:creationId xmlns:a16="http://schemas.microsoft.com/office/drawing/2014/main" id="{FA97C13C-936C-E68E-775C-07E0F14D472D}"/>
              </a:ext>
            </a:extLst>
          </p:cNvPr>
          <p:cNvSpPr>
            <a:spLocks noGrp="1"/>
          </p:cNvSpPr>
          <p:nvPr>
            <p:ph type="ftr" sz="quarter" idx="11"/>
          </p:nvPr>
        </p:nvSpPr>
        <p:spPr/>
        <p:txBody>
          <a:bodyPr/>
          <a:lstStyle/>
          <a:p>
            <a:endParaRPr lang="fr-CA"/>
          </a:p>
        </p:txBody>
      </p:sp>
      <p:sp>
        <p:nvSpPr>
          <p:cNvPr id="7" name="Espace réservé du numéro de diapositive 6">
            <a:extLst>
              <a:ext uri="{FF2B5EF4-FFF2-40B4-BE49-F238E27FC236}">
                <a16:creationId xmlns:a16="http://schemas.microsoft.com/office/drawing/2014/main" id="{8ADB3A49-A225-5BDE-0C9B-74C866D2E158}"/>
              </a:ext>
            </a:extLst>
          </p:cNvPr>
          <p:cNvSpPr>
            <a:spLocks noGrp="1"/>
          </p:cNvSpPr>
          <p:nvPr>
            <p:ph type="sldNum" sz="quarter" idx="12"/>
          </p:nvPr>
        </p:nvSpPr>
        <p:spPr/>
        <p:txBody>
          <a:bodyPr/>
          <a:lstStyle/>
          <a:p>
            <a:fld id="{273F87CF-38E8-4B91-BF41-BAA5CBE60A23}" type="slidenum">
              <a:rPr lang="fr-CA" smtClean="0"/>
              <a:t>‹#›</a:t>
            </a:fld>
            <a:endParaRPr lang="fr-CA"/>
          </a:p>
        </p:txBody>
      </p:sp>
    </p:spTree>
    <p:extLst>
      <p:ext uri="{BB962C8B-B14F-4D97-AF65-F5344CB8AC3E}">
        <p14:creationId xmlns:p14="http://schemas.microsoft.com/office/powerpoint/2010/main" val="30215824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2A5F78-D048-84F1-29E2-5AAB84B91EA2}"/>
              </a:ext>
            </a:extLst>
          </p:cNvPr>
          <p:cNvSpPr>
            <a:spLocks noGrp="1"/>
          </p:cNvSpPr>
          <p:nvPr>
            <p:ph type="title"/>
          </p:nvPr>
        </p:nvSpPr>
        <p:spPr/>
        <p:txBody>
          <a:bodyPr/>
          <a:lstStyle/>
          <a:p>
            <a:r>
              <a:rPr lang="fr-FR"/>
              <a:t>Modifiez le style du titre</a:t>
            </a:r>
            <a:endParaRPr lang="fr-CA"/>
          </a:p>
        </p:txBody>
      </p:sp>
      <p:sp>
        <p:nvSpPr>
          <p:cNvPr id="3" name="Espace réservé du texte vertical 2">
            <a:extLst>
              <a:ext uri="{FF2B5EF4-FFF2-40B4-BE49-F238E27FC236}">
                <a16:creationId xmlns:a16="http://schemas.microsoft.com/office/drawing/2014/main" id="{B6B4B978-A3B8-A250-B396-5B6836AAC02E}"/>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61E41BD9-DF57-2228-53D8-96C4CCB9C9D6}"/>
              </a:ext>
            </a:extLst>
          </p:cNvPr>
          <p:cNvSpPr>
            <a:spLocks noGrp="1"/>
          </p:cNvSpPr>
          <p:nvPr>
            <p:ph type="dt" sz="half" idx="10"/>
          </p:nvPr>
        </p:nvSpPr>
        <p:spPr/>
        <p:txBody>
          <a:bodyPr/>
          <a:lstStyle/>
          <a:p>
            <a:fld id="{C4016F9F-38FF-4B51-BE6E-F10869CD40D9}" type="datetimeFigureOut">
              <a:rPr lang="fr-CA" smtClean="0"/>
              <a:t>2026-04-03</a:t>
            </a:fld>
            <a:endParaRPr lang="fr-CA"/>
          </a:p>
        </p:txBody>
      </p:sp>
      <p:sp>
        <p:nvSpPr>
          <p:cNvPr id="5" name="Espace réservé du pied de page 4">
            <a:extLst>
              <a:ext uri="{FF2B5EF4-FFF2-40B4-BE49-F238E27FC236}">
                <a16:creationId xmlns:a16="http://schemas.microsoft.com/office/drawing/2014/main" id="{2DFAD8ED-B081-3AD1-607B-AD9D526545A5}"/>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1871386C-7295-940C-7F16-3D6B8CBABA89}"/>
              </a:ext>
            </a:extLst>
          </p:cNvPr>
          <p:cNvSpPr>
            <a:spLocks noGrp="1"/>
          </p:cNvSpPr>
          <p:nvPr>
            <p:ph type="sldNum" sz="quarter" idx="12"/>
          </p:nvPr>
        </p:nvSpPr>
        <p:spPr/>
        <p:txBody>
          <a:bodyPr/>
          <a:lstStyle/>
          <a:p>
            <a:fld id="{273F87CF-38E8-4B91-BF41-BAA5CBE60A23}" type="slidenum">
              <a:rPr lang="fr-CA" smtClean="0"/>
              <a:t>‹#›</a:t>
            </a:fld>
            <a:endParaRPr lang="fr-CA"/>
          </a:p>
        </p:txBody>
      </p:sp>
    </p:spTree>
    <p:extLst>
      <p:ext uri="{BB962C8B-B14F-4D97-AF65-F5344CB8AC3E}">
        <p14:creationId xmlns:p14="http://schemas.microsoft.com/office/powerpoint/2010/main" val="22803001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433495F2-A3AD-EB1A-0FEA-943F80ECD2A7}"/>
              </a:ext>
            </a:extLst>
          </p:cNvPr>
          <p:cNvSpPr>
            <a:spLocks noGrp="1"/>
          </p:cNvSpPr>
          <p:nvPr>
            <p:ph type="title" orient="vert"/>
          </p:nvPr>
        </p:nvSpPr>
        <p:spPr>
          <a:xfrm>
            <a:off x="8724900" y="365125"/>
            <a:ext cx="2628900" cy="5811838"/>
          </a:xfrm>
        </p:spPr>
        <p:txBody>
          <a:bodyPr vert="eaVert"/>
          <a:lstStyle/>
          <a:p>
            <a:r>
              <a:rPr lang="fr-FR"/>
              <a:t>Modifiez le style du titre</a:t>
            </a:r>
            <a:endParaRPr lang="fr-CA"/>
          </a:p>
        </p:txBody>
      </p:sp>
      <p:sp>
        <p:nvSpPr>
          <p:cNvPr id="3" name="Espace réservé du texte vertical 2">
            <a:extLst>
              <a:ext uri="{FF2B5EF4-FFF2-40B4-BE49-F238E27FC236}">
                <a16:creationId xmlns:a16="http://schemas.microsoft.com/office/drawing/2014/main" id="{E392A522-4FFC-3F57-EFC8-73A0AB15E4EC}"/>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A93B9E14-3F1C-ED4B-5A89-FBA9221C41BA}"/>
              </a:ext>
            </a:extLst>
          </p:cNvPr>
          <p:cNvSpPr>
            <a:spLocks noGrp="1"/>
          </p:cNvSpPr>
          <p:nvPr>
            <p:ph type="dt" sz="half" idx="10"/>
          </p:nvPr>
        </p:nvSpPr>
        <p:spPr/>
        <p:txBody>
          <a:bodyPr/>
          <a:lstStyle/>
          <a:p>
            <a:fld id="{C4016F9F-38FF-4B51-BE6E-F10869CD40D9}" type="datetimeFigureOut">
              <a:rPr lang="fr-CA" smtClean="0"/>
              <a:t>2026-04-03</a:t>
            </a:fld>
            <a:endParaRPr lang="fr-CA"/>
          </a:p>
        </p:txBody>
      </p:sp>
      <p:sp>
        <p:nvSpPr>
          <p:cNvPr id="5" name="Espace réservé du pied de page 4">
            <a:extLst>
              <a:ext uri="{FF2B5EF4-FFF2-40B4-BE49-F238E27FC236}">
                <a16:creationId xmlns:a16="http://schemas.microsoft.com/office/drawing/2014/main" id="{4F55FC79-B850-9900-9879-0DE51010992E}"/>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B7954A94-BC33-056F-08AD-4B2FD5D2DA22}"/>
              </a:ext>
            </a:extLst>
          </p:cNvPr>
          <p:cNvSpPr>
            <a:spLocks noGrp="1"/>
          </p:cNvSpPr>
          <p:nvPr>
            <p:ph type="sldNum" sz="quarter" idx="12"/>
          </p:nvPr>
        </p:nvSpPr>
        <p:spPr/>
        <p:txBody>
          <a:bodyPr/>
          <a:lstStyle/>
          <a:p>
            <a:fld id="{273F87CF-38E8-4B91-BF41-BAA5CBE60A23}" type="slidenum">
              <a:rPr lang="fr-CA" smtClean="0"/>
              <a:t>‹#›</a:t>
            </a:fld>
            <a:endParaRPr lang="fr-CA"/>
          </a:p>
        </p:txBody>
      </p:sp>
    </p:spTree>
    <p:extLst>
      <p:ext uri="{BB962C8B-B14F-4D97-AF65-F5344CB8AC3E}">
        <p14:creationId xmlns:p14="http://schemas.microsoft.com/office/powerpoint/2010/main" val="25698091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ADD1372-170A-5F94-FC60-163AA4974AB6}"/>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CA"/>
          </a:p>
        </p:txBody>
      </p:sp>
      <p:sp>
        <p:nvSpPr>
          <p:cNvPr id="3" name="Sous-titre 2">
            <a:extLst>
              <a:ext uri="{FF2B5EF4-FFF2-40B4-BE49-F238E27FC236}">
                <a16:creationId xmlns:a16="http://schemas.microsoft.com/office/drawing/2014/main" id="{8E0CC995-6892-ED43-B02E-9957E2CD02E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CA"/>
          </a:p>
        </p:txBody>
      </p:sp>
      <p:sp>
        <p:nvSpPr>
          <p:cNvPr id="4" name="Espace réservé de la date 3">
            <a:extLst>
              <a:ext uri="{FF2B5EF4-FFF2-40B4-BE49-F238E27FC236}">
                <a16:creationId xmlns:a16="http://schemas.microsoft.com/office/drawing/2014/main" id="{78329392-959A-E0C6-FAAC-AA3BA79A5BBD}"/>
              </a:ext>
            </a:extLst>
          </p:cNvPr>
          <p:cNvSpPr>
            <a:spLocks noGrp="1"/>
          </p:cNvSpPr>
          <p:nvPr>
            <p:ph type="dt" sz="half" idx="10"/>
          </p:nvPr>
        </p:nvSpPr>
        <p:spPr/>
        <p:txBody>
          <a:bodyPr/>
          <a:lstStyle/>
          <a:p>
            <a:fld id="{5563515A-E96C-4C9D-A3E9-E93A96B58E1E}" type="datetime1">
              <a:rPr lang="fr-CA" smtClean="0"/>
              <a:t>2026-04-03</a:t>
            </a:fld>
            <a:endParaRPr lang="fr-CA"/>
          </a:p>
        </p:txBody>
      </p:sp>
      <p:sp>
        <p:nvSpPr>
          <p:cNvPr id="5" name="Espace réservé du pied de page 4">
            <a:extLst>
              <a:ext uri="{FF2B5EF4-FFF2-40B4-BE49-F238E27FC236}">
                <a16:creationId xmlns:a16="http://schemas.microsoft.com/office/drawing/2014/main" id="{1DDBA32C-CDD8-CCD7-47CF-106EEDA361A7}"/>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0BA30C90-C63E-D316-D60F-AAB1CE2FD1CF}"/>
              </a:ext>
            </a:extLst>
          </p:cNvPr>
          <p:cNvSpPr>
            <a:spLocks noGrp="1"/>
          </p:cNvSpPr>
          <p:nvPr>
            <p:ph type="sldNum" sz="quarter" idx="12"/>
          </p:nvPr>
        </p:nvSpPr>
        <p:spPr/>
        <p:txBody>
          <a:bodyPr/>
          <a:lstStyle/>
          <a:p>
            <a:fld id="{43628076-F7D2-4859-8F17-2E85EB02FF1F}" type="slidenum">
              <a:rPr lang="fr-CA" smtClean="0"/>
              <a:t>‹#›</a:t>
            </a:fld>
            <a:endParaRPr lang="fr-CA"/>
          </a:p>
        </p:txBody>
      </p:sp>
    </p:spTree>
    <p:extLst>
      <p:ext uri="{BB962C8B-B14F-4D97-AF65-F5344CB8AC3E}">
        <p14:creationId xmlns:p14="http://schemas.microsoft.com/office/powerpoint/2010/main" val="13475130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49E356A-DE82-92EA-0539-409954EE732E}"/>
              </a:ext>
            </a:extLst>
          </p:cNvPr>
          <p:cNvSpPr>
            <a:spLocks noGrp="1"/>
          </p:cNvSpPr>
          <p:nvPr>
            <p:ph type="title"/>
          </p:nvPr>
        </p:nvSpPr>
        <p:spPr/>
        <p:txBody>
          <a:bodyPr/>
          <a:lstStyle/>
          <a:p>
            <a:r>
              <a:rPr lang="fr-FR"/>
              <a:t>Modifiez le style du titre</a:t>
            </a:r>
            <a:endParaRPr lang="fr-CA"/>
          </a:p>
        </p:txBody>
      </p:sp>
      <p:sp>
        <p:nvSpPr>
          <p:cNvPr id="3" name="Espace réservé du contenu 2">
            <a:extLst>
              <a:ext uri="{FF2B5EF4-FFF2-40B4-BE49-F238E27FC236}">
                <a16:creationId xmlns:a16="http://schemas.microsoft.com/office/drawing/2014/main" id="{E1EF6069-E3CF-17FB-D3EE-2263E5728F36}"/>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18C3280F-69C1-893E-7AB7-9422E1F99176}"/>
              </a:ext>
            </a:extLst>
          </p:cNvPr>
          <p:cNvSpPr>
            <a:spLocks noGrp="1"/>
          </p:cNvSpPr>
          <p:nvPr>
            <p:ph type="dt" sz="half" idx="10"/>
          </p:nvPr>
        </p:nvSpPr>
        <p:spPr/>
        <p:txBody>
          <a:bodyPr/>
          <a:lstStyle/>
          <a:p>
            <a:fld id="{E8F77FD7-DC34-446B-B4DB-108775CF9717}" type="datetime1">
              <a:rPr lang="fr-CA" smtClean="0"/>
              <a:t>2026-04-03</a:t>
            </a:fld>
            <a:endParaRPr lang="fr-CA"/>
          </a:p>
        </p:txBody>
      </p:sp>
      <p:sp>
        <p:nvSpPr>
          <p:cNvPr id="5" name="Espace réservé du pied de page 4">
            <a:extLst>
              <a:ext uri="{FF2B5EF4-FFF2-40B4-BE49-F238E27FC236}">
                <a16:creationId xmlns:a16="http://schemas.microsoft.com/office/drawing/2014/main" id="{0DAE83D8-8FE1-1F80-879B-745E4A14E9F0}"/>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80C1CE2D-0A4D-A358-A5FB-426965413681}"/>
              </a:ext>
            </a:extLst>
          </p:cNvPr>
          <p:cNvSpPr>
            <a:spLocks noGrp="1"/>
          </p:cNvSpPr>
          <p:nvPr>
            <p:ph type="sldNum" sz="quarter" idx="12"/>
          </p:nvPr>
        </p:nvSpPr>
        <p:spPr/>
        <p:txBody>
          <a:bodyPr/>
          <a:lstStyle/>
          <a:p>
            <a:fld id="{43628076-F7D2-4859-8F17-2E85EB02FF1F}" type="slidenum">
              <a:rPr lang="fr-CA" smtClean="0"/>
              <a:t>‹#›</a:t>
            </a:fld>
            <a:endParaRPr lang="fr-CA"/>
          </a:p>
        </p:txBody>
      </p:sp>
    </p:spTree>
    <p:extLst>
      <p:ext uri="{BB962C8B-B14F-4D97-AF65-F5344CB8AC3E}">
        <p14:creationId xmlns:p14="http://schemas.microsoft.com/office/powerpoint/2010/main" val="34666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4222F87-36FE-5CA6-586A-A24958ADC392}"/>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CA"/>
          </a:p>
        </p:txBody>
      </p:sp>
      <p:sp>
        <p:nvSpPr>
          <p:cNvPr id="3" name="Espace réservé du texte 2">
            <a:extLst>
              <a:ext uri="{FF2B5EF4-FFF2-40B4-BE49-F238E27FC236}">
                <a16:creationId xmlns:a16="http://schemas.microsoft.com/office/drawing/2014/main" id="{4D47448A-2254-73ED-F95E-149BA7D4BD8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1EE88471-431D-67F3-3038-3CB63FBDBA92}"/>
              </a:ext>
            </a:extLst>
          </p:cNvPr>
          <p:cNvSpPr>
            <a:spLocks noGrp="1"/>
          </p:cNvSpPr>
          <p:nvPr>
            <p:ph type="dt" sz="half" idx="10"/>
          </p:nvPr>
        </p:nvSpPr>
        <p:spPr/>
        <p:txBody>
          <a:bodyPr/>
          <a:lstStyle/>
          <a:p>
            <a:fld id="{0899FF12-6CE4-4FF6-8ADF-B56D4C1A5591}" type="datetime1">
              <a:rPr lang="fr-CA" smtClean="0"/>
              <a:t>2026-04-03</a:t>
            </a:fld>
            <a:endParaRPr lang="fr-CA"/>
          </a:p>
        </p:txBody>
      </p:sp>
      <p:sp>
        <p:nvSpPr>
          <p:cNvPr id="5" name="Espace réservé du pied de page 4">
            <a:extLst>
              <a:ext uri="{FF2B5EF4-FFF2-40B4-BE49-F238E27FC236}">
                <a16:creationId xmlns:a16="http://schemas.microsoft.com/office/drawing/2014/main" id="{CCA6417F-A78A-B74E-8B4E-91DD9B7A45A8}"/>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9574EC4D-7659-CBA7-240A-36C593021BE6}"/>
              </a:ext>
            </a:extLst>
          </p:cNvPr>
          <p:cNvSpPr>
            <a:spLocks noGrp="1"/>
          </p:cNvSpPr>
          <p:nvPr>
            <p:ph type="sldNum" sz="quarter" idx="12"/>
          </p:nvPr>
        </p:nvSpPr>
        <p:spPr/>
        <p:txBody>
          <a:bodyPr/>
          <a:lstStyle/>
          <a:p>
            <a:fld id="{43628076-F7D2-4859-8F17-2E85EB02FF1F}" type="slidenum">
              <a:rPr lang="fr-CA" smtClean="0"/>
              <a:t>‹#›</a:t>
            </a:fld>
            <a:endParaRPr lang="fr-CA"/>
          </a:p>
        </p:txBody>
      </p:sp>
    </p:spTree>
    <p:extLst>
      <p:ext uri="{BB962C8B-B14F-4D97-AF65-F5344CB8AC3E}">
        <p14:creationId xmlns:p14="http://schemas.microsoft.com/office/powerpoint/2010/main" val="29872580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8A47661-0569-F6E2-3453-E78BAE0760F5}"/>
              </a:ext>
            </a:extLst>
          </p:cNvPr>
          <p:cNvSpPr>
            <a:spLocks noGrp="1"/>
          </p:cNvSpPr>
          <p:nvPr>
            <p:ph type="title"/>
          </p:nvPr>
        </p:nvSpPr>
        <p:spPr/>
        <p:txBody>
          <a:bodyPr/>
          <a:lstStyle/>
          <a:p>
            <a:r>
              <a:rPr lang="fr-FR"/>
              <a:t>Modifiez le style du titre</a:t>
            </a:r>
            <a:endParaRPr lang="fr-CA"/>
          </a:p>
        </p:txBody>
      </p:sp>
      <p:sp>
        <p:nvSpPr>
          <p:cNvPr id="3" name="Espace réservé du contenu 2">
            <a:extLst>
              <a:ext uri="{FF2B5EF4-FFF2-40B4-BE49-F238E27FC236}">
                <a16:creationId xmlns:a16="http://schemas.microsoft.com/office/drawing/2014/main" id="{FB40AA68-67A9-1691-57E0-97B23BA716BF}"/>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a:extLst>
              <a:ext uri="{FF2B5EF4-FFF2-40B4-BE49-F238E27FC236}">
                <a16:creationId xmlns:a16="http://schemas.microsoft.com/office/drawing/2014/main" id="{023AABD2-B338-D13C-83FB-87F6E11721C2}"/>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e la date 4">
            <a:extLst>
              <a:ext uri="{FF2B5EF4-FFF2-40B4-BE49-F238E27FC236}">
                <a16:creationId xmlns:a16="http://schemas.microsoft.com/office/drawing/2014/main" id="{E013D818-8D5D-059E-A92D-84603820A90F}"/>
              </a:ext>
            </a:extLst>
          </p:cNvPr>
          <p:cNvSpPr>
            <a:spLocks noGrp="1"/>
          </p:cNvSpPr>
          <p:nvPr>
            <p:ph type="dt" sz="half" idx="10"/>
          </p:nvPr>
        </p:nvSpPr>
        <p:spPr/>
        <p:txBody>
          <a:bodyPr/>
          <a:lstStyle/>
          <a:p>
            <a:fld id="{CDAE34C3-0963-494C-A788-E0BF3E4C395E}" type="datetime1">
              <a:rPr lang="fr-CA" smtClean="0"/>
              <a:t>2026-04-03</a:t>
            </a:fld>
            <a:endParaRPr lang="fr-CA"/>
          </a:p>
        </p:txBody>
      </p:sp>
      <p:sp>
        <p:nvSpPr>
          <p:cNvPr id="6" name="Espace réservé du pied de page 5">
            <a:extLst>
              <a:ext uri="{FF2B5EF4-FFF2-40B4-BE49-F238E27FC236}">
                <a16:creationId xmlns:a16="http://schemas.microsoft.com/office/drawing/2014/main" id="{84C1C2C9-2BF9-BBB9-A69C-9AF871EC7589}"/>
              </a:ext>
            </a:extLst>
          </p:cNvPr>
          <p:cNvSpPr>
            <a:spLocks noGrp="1"/>
          </p:cNvSpPr>
          <p:nvPr>
            <p:ph type="ftr" sz="quarter" idx="11"/>
          </p:nvPr>
        </p:nvSpPr>
        <p:spPr/>
        <p:txBody>
          <a:bodyPr/>
          <a:lstStyle/>
          <a:p>
            <a:endParaRPr lang="fr-CA"/>
          </a:p>
        </p:txBody>
      </p:sp>
      <p:sp>
        <p:nvSpPr>
          <p:cNvPr id="7" name="Espace réservé du numéro de diapositive 6">
            <a:extLst>
              <a:ext uri="{FF2B5EF4-FFF2-40B4-BE49-F238E27FC236}">
                <a16:creationId xmlns:a16="http://schemas.microsoft.com/office/drawing/2014/main" id="{61B2B454-CD91-FF08-9B03-C89F7F206327}"/>
              </a:ext>
            </a:extLst>
          </p:cNvPr>
          <p:cNvSpPr>
            <a:spLocks noGrp="1"/>
          </p:cNvSpPr>
          <p:nvPr>
            <p:ph type="sldNum" sz="quarter" idx="12"/>
          </p:nvPr>
        </p:nvSpPr>
        <p:spPr/>
        <p:txBody>
          <a:bodyPr/>
          <a:lstStyle/>
          <a:p>
            <a:fld id="{43628076-F7D2-4859-8F17-2E85EB02FF1F}" type="slidenum">
              <a:rPr lang="fr-CA" smtClean="0"/>
              <a:t>‹#›</a:t>
            </a:fld>
            <a:endParaRPr lang="fr-CA"/>
          </a:p>
        </p:txBody>
      </p:sp>
    </p:spTree>
    <p:extLst>
      <p:ext uri="{BB962C8B-B14F-4D97-AF65-F5344CB8AC3E}">
        <p14:creationId xmlns:p14="http://schemas.microsoft.com/office/powerpoint/2010/main" val="1872271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054A11A-8CC8-35B1-5D1B-437AA0C2F2E9}"/>
              </a:ext>
            </a:extLst>
          </p:cNvPr>
          <p:cNvSpPr>
            <a:spLocks noGrp="1"/>
          </p:cNvSpPr>
          <p:nvPr>
            <p:ph type="title"/>
          </p:nvPr>
        </p:nvSpPr>
        <p:spPr>
          <a:xfrm>
            <a:off x="839788" y="365125"/>
            <a:ext cx="10515600" cy="1325563"/>
          </a:xfrm>
        </p:spPr>
        <p:txBody>
          <a:bodyPr/>
          <a:lstStyle/>
          <a:p>
            <a:r>
              <a:rPr lang="fr-FR"/>
              <a:t>Modifiez le style du titre</a:t>
            </a:r>
            <a:endParaRPr lang="fr-CA"/>
          </a:p>
        </p:txBody>
      </p:sp>
      <p:sp>
        <p:nvSpPr>
          <p:cNvPr id="3" name="Espace réservé du texte 2">
            <a:extLst>
              <a:ext uri="{FF2B5EF4-FFF2-40B4-BE49-F238E27FC236}">
                <a16:creationId xmlns:a16="http://schemas.microsoft.com/office/drawing/2014/main" id="{D98F99B4-900A-5221-1A95-C22D7E5911C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231D59A6-805C-3321-2B78-8C1CE74C371B}"/>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u texte 4">
            <a:extLst>
              <a:ext uri="{FF2B5EF4-FFF2-40B4-BE49-F238E27FC236}">
                <a16:creationId xmlns:a16="http://schemas.microsoft.com/office/drawing/2014/main" id="{1036EACA-5FBD-C200-E709-46D2D693B05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CCE97C8B-C998-3123-72BA-E72FAE5D9E8D}"/>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7" name="Espace réservé de la date 6">
            <a:extLst>
              <a:ext uri="{FF2B5EF4-FFF2-40B4-BE49-F238E27FC236}">
                <a16:creationId xmlns:a16="http://schemas.microsoft.com/office/drawing/2014/main" id="{5B2F0058-AD0A-6877-B38F-471D2B7B393C}"/>
              </a:ext>
            </a:extLst>
          </p:cNvPr>
          <p:cNvSpPr>
            <a:spLocks noGrp="1"/>
          </p:cNvSpPr>
          <p:nvPr>
            <p:ph type="dt" sz="half" idx="10"/>
          </p:nvPr>
        </p:nvSpPr>
        <p:spPr/>
        <p:txBody>
          <a:bodyPr/>
          <a:lstStyle/>
          <a:p>
            <a:fld id="{923164B0-E974-4AFD-9ECD-9BA84B08D72A}" type="datetime1">
              <a:rPr lang="fr-CA" smtClean="0"/>
              <a:t>2026-04-03</a:t>
            </a:fld>
            <a:endParaRPr lang="fr-CA"/>
          </a:p>
        </p:txBody>
      </p:sp>
      <p:sp>
        <p:nvSpPr>
          <p:cNvPr id="8" name="Espace réservé du pied de page 7">
            <a:extLst>
              <a:ext uri="{FF2B5EF4-FFF2-40B4-BE49-F238E27FC236}">
                <a16:creationId xmlns:a16="http://schemas.microsoft.com/office/drawing/2014/main" id="{6EDB2A57-686A-DE4B-1F74-C16F6805CA5C}"/>
              </a:ext>
            </a:extLst>
          </p:cNvPr>
          <p:cNvSpPr>
            <a:spLocks noGrp="1"/>
          </p:cNvSpPr>
          <p:nvPr>
            <p:ph type="ftr" sz="quarter" idx="11"/>
          </p:nvPr>
        </p:nvSpPr>
        <p:spPr/>
        <p:txBody>
          <a:bodyPr/>
          <a:lstStyle/>
          <a:p>
            <a:endParaRPr lang="fr-CA"/>
          </a:p>
        </p:txBody>
      </p:sp>
      <p:sp>
        <p:nvSpPr>
          <p:cNvPr id="9" name="Espace réservé du numéro de diapositive 8">
            <a:extLst>
              <a:ext uri="{FF2B5EF4-FFF2-40B4-BE49-F238E27FC236}">
                <a16:creationId xmlns:a16="http://schemas.microsoft.com/office/drawing/2014/main" id="{30894A18-038A-4A0B-B01B-F72AE1C43C1C}"/>
              </a:ext>
            </a:extLst>
          </p:cNvPr>
          <p:cNvSpPr>
            <a:spLocks noGrp="1"/>
          </p:cNvSpPr>
          <p:nvPr>
            <p:ph type="sldNum" sz="quarter" idx="12"/>
          </p:nvPr>
        </p:nvSpPr>
        <p:spPr/>
        <p:txBody>
          <a:bodyPr/>
          <a:lstStyle/>
          <a:p>
            <a:fld id="{43628076-F7D2-4859-8F17-2E85EB02FF1F}" type="slidenum">
              <a:rPr lang="fr-CA" smtClean="0"/>
              <a:t>‹#›</a:t>
            </a:fld>
            <a:endParaRPr lang="fr-CA"/>
          </a:p>
        </p:txBody>
      </p:sp>
    </p:spTree>
    <p:extLst>
      <p:ext uri="{BB962C8B-B14F-4D97-AF65-F5344CB8AC3E}">
        <p14:creationId xmlns:p14="http://schemas.microsoft.com/office/powerpoint/2010/main" val="14612723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4AF964F-A23F-87FC-E726-B147E7072DC3}"/>
              </a:ext>
            </a:extLst>
          </p:cNvPr>
          <p:cNvSpPr>
            <a:spLocks noGrp="1"/>
          </p:cNvSpPr>
          <p:nvPr>
            <p:ph type="title"/>
          </p:nvPr>
        </p:nvSpPr>
        <p:spPr/>
        <p:txBody>
          <a:bodyPr/>
          <a:lstStyle/>
          <a:p>
            <a:r>
              <a:rPr lang="fr-FR"/>
              <a:t>Modifiez le style du titre</a:t>
            </a:r>
            <a:endParaRPr lang="fr-CA"/>
          </a:p>
        </p:txBody>
      </p:sp>
      <p:sp>
        <p:nvSpPr>
          <p:cNvPr id="3" name="Espace réservé de la date 2">
            <a:extLst>
              <a:ext uri="{FF2B5EF4-FFF2-40B4-BE49-F238E27FC236}">
                <a16:creationId xmlns:a16="http://schemas.microsoft.com/office/drawing/2014/main" id="{07AB2C7E-CF78-5F59-63EB-CD921AD723D9}"/>
              </a:ext>
            </a:extLst>
          </p:cNvPr>
          <p:cNvSpPr>
            <a:spLocks noGrp="1"/>
          </p:cNvSpPr>
          <p:nvPr>
            <p:ph type="dt" sz="half" idx="10"/>
          </p:nvPr>
        </p:nvSpPr>
        <p:spPr/>
        <p:txBody>
          <a:bodyPr/>
          <a:lstStyle/>
          <a:p>
            <a:fld id="{056B0CE5-C805-4B19-959B-4A00DD140683}" type="datetime1">
              <a:rPr lang="fr-CA" smtClean="0"/>
              <a:t>2026-04-03</a:t>
            </a:fld>
            <a:endParaRPr lang="fr-CA"/>
          </a:p>
        </p:txBody>
      </p:sp>
      <p:sp>
        <p:nvSpPr>
          <p:cNvPr id="4" name="Espace réservé du pied de page 3">
            <a:extLst>
              <a:ext uri="{FF2B5EF4-FFF2-40B4-BE49-F238E27FC236}">
                <a16:creationId xmlns:a16="http://schemas.microsoft.com/office/drawing/2014/main" id="{1AF2A42D-5C4D-3E1F-0DAE-9AD2E24A0F41}"/>
              </a:ext>
            </a:extLst>
          </p:cNvPr>
          <p:cNvSpPr>
            <a:spLocks noGrp="1"/>
          </p:cNvSpPr>
          <p:nvPr>
            <p:ph type="ftr" sz="quarter" idx="11"/>
          </p:nvPr>
        </p:nvSpPr>
        <p:spPr/>
        <p:txBody>
          <a:bodyPr/>
          <a:lstStyle/>
          <a:p>
            <a:endParaRPr lang="fr-CA"/>
          </a:p>
        </p:txBody>
      </p:sp>
      <p:sp>
        <p:nvSpPr>
          <p:cNvPr id="5" name="Espace réservé du numéro de diapositive 4">
            <a:extLst>
              <a:ext uri="{FF2B5EF4-FFF2-40B4-BE49-F238E27FC236}">
                <a16:creationId xmlns:a16="http://schemas.microsoft.com/office/drawing/2014/main" id="{381679CE-C323-1C7C-B85A-66C40EDDAB6E}"/>
              </a:ext>
            </a:extLst>
          </p:cNvPr>
          <p:cNvSpPr>
            <a:spLocks noGrp="1"/>
          </p:cNvSpPr>
          <p:nvPr>
            <p:ph type="sldNum" sz="quarter" idx="12"/>
          </p:nvPr>
        </p:nvSpPr>
        <p:spPr/>
        <p:txBody>
          <a:bodyPr/>
          <a:lstStyle/>
          <a:p>
            <a:fld id="{43628076-F7D2-4859-8F17-2E85EB02FF1F}" type="slidenum">
              <a:rPr lang="fr-CA" smtClean="0"/>
              <a:t>‹#›</a:t>
            </a:fld>
            <a:endParaRPr lang="fr-CA"/>
          </a:p>
        </p:txBody>
      </p:sp>
    </p:spTree>
    <p:extLst>
      <p:ext uri="{BB962C8B-B14F-4D97-AF65-F5344CB8AC3E}">
        <p14:creationId xmlns:p14="http://schemas.microsoft.com/office/powerpoint/2010/main" val="32677887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ED100F0A-4286-5A77-E561-6327F5357C2D}"/>
              </a:ext>
            </a:extLst>
          </p:cNvPr>
          <p:cNvSpPr>
            <a:spLocks noGrp="1"/>
          </p:cNvSpPr>
          <p:nvPr>
            <p:ph type="dt" sz="half" idx="10"/>
          </p:nvPr>
        </p:nvSpPr>
        <p:spPr/>
        <p:txBody>
          <a:bodyPr/>
          <a:lstStyle/>
          <a:p>
            <a:fld id="{E2BE43E9-ABCB-4635-8FA5-3D8A352AD699}" type="datetime1">
              <a:rPr lang="fr-CA" smtClean="0"/>
              <a:t>2026-04-03</a:t>
            </a:fld>
            <a:endParaRPr lang="fr-CA"/>
          </a:p>
        </p:txBody>
      </p:sp>
      <p:sp>
        <p:nvSpPr>
          <p:cNvPr id="3" name="Espace réservé du pied de page 2">
            <a:extLst>
              <a:ext uri="{FF2B5EF4-FFF2-40B4-BE49-F238E27FC236}">
                <a16:creationId xmlns:a16="http://schemas.microsoft.com/office/drawing/2014/main" id="{90EF94E1-7D68-0ABB-618A-AAAF08818E54}"/>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D61C9279-484B-D1C8-3541-A67D4D5C2B98}"/>
              </a:ext>
            </a:extLst>
          </p:cNvPr>
          <p:cNvSpPr>
            <a:spLocks noGrp="1"/>
          </p:cNvSpPr>
          <p:nvPr>
            <p:ph type="sldNum" sz="quarter" idx="12"/>
          </p:nvPr>
        </p:nvSpPr>
        <p:spPr/>
        <p:txBody>
          <a:bodyPr/>
          <a:lstStyle/>
          <a:p>
            <a:fld id="{43628076-F7D2-4859-8F17-2E85EB02FF1F}" type="slidenum">
              <a:rPr lang="fr-CA" smtClean="0"/>
              <a:t>‹#›</a:t>
            </a:fld>
            <a:endParaRPr lang="fr-CA"/>
          </a:p>
        </p:txBody>
      </p:sp>
    </p:spTree>
    <p:extLst>
      <p:ext uri="{BB962C8B-B14F-4D97-AF65-F5344CB8AC3E}">
        <p14:creationId xmlns:p14="http://schemas.microsoft.com/office/powerpoint/2010/main" val="42668517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AC0DD4B-AEF7-22F0-47CD-A84E69E251DE}"/>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du contenu 2">
            <a:extLst>
              <a:ext uri="{FF2B5EF4-FFF2-40B4-BE49-F238E27FC236}">
                <a16:creationId xmlns:a16="http://schemas.microsoft.com/office/drawing/2014/main" id="{B0319756-7B6E-F46C-0D04-BFD6D0956C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texte 3">
            <a:extLst>
              <a:ext uri="{FF2B5EF4-FFF2-40B4-BE49-F238E27FC236}">
                <a16:creationId xmlns:a16="http://schemas.microsoft.com/office/drawing/2014/main" id="{FA1662E1-F4C5-0144-4E44-8F052309F8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7E3D4B33-A754-03C8-47E3-024B2A6D7F3E}"/>
              </a:ext>
            </a:extLst>
          </p:cNvPr>
          <p:cNvSpPr>
            <a:spLocks noGrp="1"/>
          </p:cNvSpPr>
          <p:nvPr>
            <p:ph type="dt" sz="half" idx="10"/>
          </p:nvPr>
        </p:nvSpPr>
        <p:spPr/>
        <p:txBody>
          <a:bodyPr/>
          <a:lstStyle/>
          <a:p>
            <a:fld id="{AFC624C4-A72B-4116-A40B-82662A2AD854}" type="datetime1">
              <a:rPr lang="fr-CA" smtClean="0"/>
              <a:t>2026-04-03</a:t>
            </a:fld>
            <a:endParaRPr lang="fr-CA"/>
          </a:p>
        </p:txBody>
      </p:sp>
      <p:sp>
        <p:nvSpPr>
          <p:cNvPr id="6" name="Espace réservé du pied de page 5">
            <a:extLst>
              <a:ext uri="{FF2B5EF4-FFF2-40B4-BE49-F238E27FC236}">
                <a16:creationId xmlns:a16="http://schemas.microsoft.com/office/drawing/2014/main" id="{A961D630-7DED-19E8-9E82-E6AD0A0E6CBC}"/>
              </a:ext>
            </a:extLst>
          </p:cNvPr>
          <p:cNvSpPr>
            <a:spLocks noGrp="1"/>
          </p:cNvSpPr>
          <p:nvPr>
            <p:ph type="ftr" sz="quarter" idx="11"/>
          </p:nvPr>
        </p:nvSpPr>
        <p:spPr/>
        <p:txBody>
          <a:bodyPr/>
          <a:lstStyle/>
          <a:p>
            <a:endParaRPr lang="fr-CA"/>
          </a:p>
        </p:txBody>
      </p:sp>
      <p:sp>
        <p:nvSpPr>
          <p:cNvPr id="7" name="Espace réservé du numéro de diapositive 6">
            <a:extLst>
              <a:ext uri="{FF2B5EF4-FFF2-40B4-BE49-F238E27FC236}">
                <a16:creationId xmlns:a16="http://schemas.microsoft.com/office/drawing/2014/main" id="{B7E54DE8-DE1D-D1EF-C53C-81727C43521B}"/>
              </a:ext>
            </a:extLst>
          </p:cNvPr>
          <p:cNvSpPr>
            <a:spLocks noGrp="1"/>
          </p:cNvSpPr>
          <p:nvPr>
            <p:ph type="sldNum" sz="quarter" idx="12"/>
          </p:nvPr>
        </p:nvSpPr>
        <p:spPr/>
        <p:txBody>
          <a:bodyPr/>
          <a:lstStyle/>
          <a:p>
            <a:fld id="{43628076-F7D2-4859-8F17-2E85EB02FF1F}" type="slidenum">
              <a:rPr lang="fr-CA" smtClean="0"/>
              <a:t>‹#›</a:t>
            </a:fld>
            <a:endParaRPr lang="fr-CA"/>
          </a:p>
        </p:txBody>
      </p:sp>
    </p:spTree>
    <p:extLst>
      <p:ext uri="{BB962C8B-B14F-4D97-AF65-F5344CB8AC3E}">
        <p14:creationId xmlns:p14="http://schemas.microsoft.com/office/powerpoint/2010/main" val="27262859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C62D529-71A2-C5D8-B085-D560704852F8}"/>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pour une image  2">
            <a:extLst>
              <a:ext uri="{FF2B5EF4-FFF2-40B4-BE49-F238E27FC236}">
                <a16:creationId xmlns:a16="http://schemas.microsoft.com/office/drawing/2014/main" id="{1BA232C3-4AB1-6CA5-D81B-64291A4C885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A"/>
          </a:p>
        </p:txBody>
      </p:sp>
      <p:sp>
        <p:nvSpPr>
          <p:cNvPr id="4" name="Espace réservé du texte 3">
            <a:extLst>
              <a:ext uri="{FF2B5EF4-FFF2-40B4-BE49-F238E27FC236}">
                <a16:creationId xmlns:a16="http://schemas.microsoft.com/office/drawing/2014/main" id="{113A74D3-22E5-E0EC-3D11-93F2D1B094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D7245311-9617-9970-5E0C-C0AD588ECA93}"/>
              </a:ext>
            </a:extLst>
          </p:cNvPr>
          <p:cNvSpPr>
            <a:spLocks noGrp="1"/>
          </p:cNvSpPr>
          <p:nvPr>
            <p:ph type="dt" sz="half" idx="10"/>
          </p:nvPr>
        </p:nvSpPr>
        <p:spPr/>
        <p:txBody>
          <a:bodyPr/>
          <a:lstStyle/>
          <a:p>
            <a:fld id="{5D381448-A4EB-4989-A1F2-A5FFA6D9CE6A}" type="datetime1">
              <a:rPr lang="fr-CA" smtClean="0"/>
              <a:t>2026-04-03</a:t>
            </a:fld>
            <a:endParaRPr lang="fr-CA"/>
          </a:p>
        </p:txBody>
      </p:sp>
      <p:sp>
        <p:nvSpPr>
          <p:cNvPr id="6" name="Espace réservé du pied de page 5">
            <a:extLst>
              <a:ext uri="{FF2B5EF4-FFF2-40B4-BE49-F238E27FC236}">
                <a16:creationId xmlns:a16="http://schemas.microsoft.com/office/drawing/2014/main" id="{694F7AB8-C45C-52D6-E8F7-D39AE92107CB}"/>
              </a:ext>
            </a:extLst>
          </p:cNvPr>
          <p:cNvSpPr>
            <a:spLocks noGrp="1"/>
          </p:cNvSpPr>
          <p:nvPr>
            <p:ph type="ftr" sz="quarter" idx="11"/>
          </p:nvPr>
        </p:nvSpPr>
        <p:spPr/>
        <p:txBody>
          <a:bodyPr/>
          <a:lstStyle/>
          <a:p>
            <a:endParaRPr lang="fr-CA"/>
          </a:p>
        </p:txBody>
      </p:sp>
      <p:sp>
        <p:nvSpPr>
          <p:cNvPr id="7" name="Espace réservé du numéro de diapositive 6">
            <a:extLst>
              <a:ext uri="{FF2B5EF4-FFF2-40B4-BE49-F238E27FC236}">
                <a16:creationId xmlns:a16="http://schemas.microsoft.com/office/drawing/2014/main" id="{5D137C88-DDAD-C87B-26B8-A13B5A3D99D2}"/>
              </a:ext>
            </a:extLst>
          </p:cNvPr>
          <p:cNvSpPr>
            <a:spLocks noGrp="1"/>
          </p:cNvSpPr>
          <p:nvPr>
            <p:ph type="sldNum" sz="quarter" idx="12"/>
          </p:nvPr>
        </p:nvSpPr>
        <p:spPr/>
        <p:txBody>
          <a:bodyPr/>
          <a:lstStyle/>
          <a:p>
            <a:fld id="{43628076-F7D2-4859-8F17-2E85EB02FF1F}" type="slidenum">
              <a:rPr lang="fr-CA" smtClean="0"/>
              <a:t>‹#›</a:t>
            </a:fld>
            <a:endParaRPr lang="fr-CA"/>
          </a:p>
        </p:txBody>
      </p:sp>
    </p:spTree>
    <p:extLst>
      <p:ext uri="{BB962C8B-B14F-4D97-AF65-F5344CB8AC3E}">
        <p14:creationId xmlns:p14="http://schemas.microsoft.com/office/powerpoint/2010/main" val="34189538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322A7CA-290B-C7AF-FA53-5CF060EC3923}"/>
              </a:ext>
            </a:extLst>
          </p:cNvPr>
          <p:cNvSpPr>
            <a:spLocks noGrp="1"/>
          </p:cNvSpPr>
          <p:nvPr>
            <p:ph type="title"/>
          </p:nvPr>
        </p:nvSpPr>
        <p:spPr/>
        <p:txBody>
          <a:bodyPr/>
          <a:lstStyle/>
          <a:p>
            <a:r>
              <a:rPr lang="fr-FR"/>
              <a:t>Modifiez le style du titre</a:t>
            </a:r>
            <a:endParaRPr lang="fr-CA"/>
          </a:p>
        </p:txBody>
      </p:sp>
      <p:sp>
        <p:nvSpPr>
          <p:cNvPr id="3" name="Espace réservé du texte vertical 2">
            <a:extLst>
              <a:ext uri="{FF2B5EF4-FFF2-40B4-BE49-F238E27FC236}">
                <a16:creationId xmlns:a16="http://schemas.microsoft.com/office/drawing/2014/main" id="{32964BAC-2981-05E2-A286-7F32685B159B}"/>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98282DB5-E3E2-21F9-8734-70DD631CF4FA}"/>
              </a:ext>
            </a:extLst>
          </p:cNvPr>
          <p:cNvSpPr>
            <a:spLocks noGrp="1"/>
          </p:cNvSpPr>
          <p:nvPr>
            <p:ph type="dt" sz="half" idx="10"/>
          </p:nvPr>
        </p:nvSpPr>
        <p:spPr/>
        <p:txBody>
          <a:bodyPr/>
          <a:lstStyle/>
          <a:p>
            <a:fld id="{8C8D41F0-21CC-43AF-83E4-E542D7231BCC}" type="datetime1">
              <a:rPr lang="fr-CA" smtClean="0"/>
              <a:t>2026-04-03</a:t>
            </a:fld>
            <a:endParaRPr lang="fr-CA"/>
          </a:p>
        </p:txBody>
      </p:sp>
      <p:sp>
        <p:nvSpPr>
          <p:cNvPr id="5" name="Espace réservé du pied de page 4">
            <a:extLst>
              <a:ext uri="{FF2B5EF4-FFF2-40B4-BE49-F238E27FC236}">
                <a16:creationId xmlns:a16="http://schemas.microsoft.com/office/drawing/2014/main" id="{C8640584-4AFD-2F0D-D647-911E52AB2CDA}"/>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6F11FDC2-A768-0778-D0EE-AB28A064A4CE}"/>
              </a:ext>
            </a:extLst>
          </p:cNvPr>
          <p:cNvSpPr>
            <a:spLocks noGrp="1"/>
          </p:cNvSpPr>
          <p:nvPr>
            <p:ph type="sldNum" sz="quarter" idx="12"/>
          </p:nvPr>
        </p:nvSpPr>
        <p:spPr/>
        <p:txBody>
          <a:bodyPr/>
          <a:lstStyle/>
          <a:p>
            <a:fld id="{43628076-F7D2-4859-8F17-2E85EB02FF1F}" type="slidenum">
              <a:rPr lang="fr-CA" smtClean="0"/>
              <a:t>‹#›</a:t>
            </a:fld>
            <a:endParaRPr lang="fr-CA"/>
          </a:p>
        </p:txBody>
      </p:sp>
    </p:spTree>
    <p:extLst>
      <p:ext uri="{BB962C8B-B14F-4D97-AF65-F5344CB8AC3E}">
        <p14:creationId xmlns:p14="http://schemas.microsoft.com/office/powerpoint/2010/main" val="300759808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582AFA51-7F33-7573-B143-52D7236D76F4}"/>
              </a:ext>
            </a:extLst>
          </p:cNvPr>
          <p:cNvSpPr>
            <a:spLocks noGrp="1"/>
          </p:cNvSpPr>
          <p:nvPr>
            <p:ph type="title" orient="vert"/>
          </p:nvPr>
        </p:nvSpPr>
        <p:spPr>
          <a:xfrm>
            <a:off x="8724900" y="365125"/>
            <a:ext cx="2628900" cy="5811838"/>
          </a:xfrm>
        </p:spPr>
        <p:txBody>
          <a:bodyPr vert="eaVert"/>
          <a:lstStyle/>
          <a:p>
            <a:r>
              <a:rPr lang="fr-FR"/>
              <a:t>Modifiez le style du titre</a:t>
            </a:r>
            <a:endParaRPr lang="fr-CA"/>
          </a:p>
        </p:txBody>
      </p:sp>
      <p:sp>
        <p:nvSpPr>
          <p:cNvPr id="3" name="Espace réservé du texte vertical 2">
            <a:extLst>
              <a:ext uri="{FF2B5EF4-FFF2-40B4-BE49-F238E27FC236}">
                <a16:creationId xmlns:a16="http://schemas.microsoft.com/office/drawing/2014/main" id="{1924B9C3-81AB-4498-8638-9F99C3DDD15F}"/>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7C253C11-B944-2712-6B2B-B415243990B9}"/>
              </a:ext>
            </a:extLst>
          </p:cNvPr>
          <p:cNvSpPr>
            <a:spLocks noGrp="1"/>
          </p:cNvSpPr>
          <p:nvPr>
            <p:ph type="dt" sz="half" idx="10"/>
          </p:nvPr>
        </p:nvSpPr>
        <p:spPr/>
        <p:txBody>
          <a:bodyPr/>
          <a:lstStyle/>
          <a:p>
            <a:fld id="{E2B46A16-0219-4B04-ACBB-D93BB80B9029}" type="datetime1">
              <a:rPr lang="fr-CA" smtClean="0"/>
              <a:t>2026-04-03</a:t>
            </a:fld>
            <a:endParaRPr lang="fr-CA"/>
          </a:p>
        </p:txBody>
      </p:sp>
      <p:sp>
        <p:nvSpPr>
          <p:cNvPr id="5" name="Espace réservé du pied de page 4">
            <a:extLst>
              <a:ext uri="{FF2B5EF4-FFF2-40B4-BE49-F238E27FC236}">
                <a16:creationId xmlns:a16="http://schemas.microsoft.com/office/drawing/2014/main" id="{BC0C897C-D06A-2B04-4FE2-E3DD6D5395F0}"/>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1E82000E-E501-68F7-8432-B4B1839C1E3A}"/>
              </a:ext>
            </a:extLst>
          </p:cNvPr>
          <p:cNvSpPr>
            <a:spLocks noGrp="1"/>
          </p:cNvSpPr>
          <p:nvPr>
            <p:ph type="sldNum" sz="quarter" idx="12"/>
          </p:nvPr>
        </p:nvSpPr>
        <p:spPr/>
        <p:txBody>
          <a:bodyPr/>
          <a:lstStyle/>
          <a:p>
            <a:fld id="{43628076-F7D2-4859-8F17-2E85EB02FF1F}" type="slidenum">
              <a:rPr lang="fr-CA" smtClean="0"/>
              <a:t>‹#›</a:t>
            </a:fld>
            <a:endParaRPr lang="fr-CA"/>
          </a:p>
        </p:txBody>
      </p:sp>
    </p:spTree>
    <p:extLst>
      <p:ext uri="{BB962C8B-B14F-4D97-AF65-F5344CB8AC3E}">
        <p14:creationId xmlns:p14="http://schemas.microsoft.com/office/powerpoint/2010/main" val="39224454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AF43A8B8-D49F-1CAB-505F-2593D535B18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CA"/>
          </a:p>
        </p:txBody>
      </p:sp>
      <p:sp>
        <p:nvSpPr>
          <p:cNvPr id="3" name="Espace réservé du texte 2">
            <a:extLst>
              <a:ext uri="{FF2B5EF4-FFF2-40B4-BE49-F238E27FC236}">
                <a16:creationId xmlns:a16="http://schemas.microsoft.com/office/drawing/2014/main" id="{CBD8C5FC-DCDC-87FA-FD45-CADF7AE954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2135EF14-1FA9-497C-870F-603C6B3C10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4016F9F-38FF-4B51-BE6E-F10869CD40D9}" type="datetimeFigureOut">
              <a:rPr lang="fr-CA" smtClean="0"/>
              <a:t>2026-04-03</a:t>
            </a:fld>
            <a:endParaRPr lang="fr-CA"/>
          </a:p>
        </p:txBody>
      </p:sp>
      <p:sp>
        <p:nvSpPr>
          <p:cNvPr id="5" name="Espace réservé du pied de page 4">
            <a:extLst>
              <a:ext uri="{FF2B5EF4-FFF2-40B4-BE49-F238E27FC236}">
                <a16:creationId xmlns:a16="http://schemas.microsoft.com/office/drawing/2014/main" id="{FE827225-6E65-F0FB-59A1-A5798F2394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CA"/>
          </a:p>
        </p:txBody>
      </p:sp>
      <p:sp>
        <p:nvSpPr>
          <p:cNvPr id="6" name="Espace réservé du numéro de diapositive 5">
            <a:extLst>
              <a:ext uri="{FF2B5EF4-FFF2-40B4-BE49-F238E27FC236}">
                <a16:creationId xmlns:a16="http://schemas.microsoft.com/office/drawing/2014/main" id="{A01F007B-5470-D1F6-3E73-86127731D6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73F87CF-38E8-4B91-BF41-BAA5CBE60A23}" type="slidenum">
              <a:rPr lang="fr-CA" smtClean="0"/>
              <a:t>‹#›</a:t>
            </a:fld>
            <a:endParaRPr lang="fr-CA"/>
          </a:p>
        </p:txBody>
      </p:sp>
    </p:spTree>
    <p:extLst>
      <p:ext uri="{BB962C8B-B14F-4D97-AF65-F5344CB8AC3E}">
        <p14:creationId xmlns:p14="http://schemas.microsoft.com/office/powerpoint/2010/main" val="37391474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C8D3A3F8-8CDA-C109-CA6F-0CA5C316D4D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CA"/>
          </a:p>
        </p:txBody>
      </p:sp>
      <p:sp>
        <p:nvSpPr>
          <p:cNvPr id="3" name="Espace réservé du texte 2">
            <a:extLst>
              <a:ext uri="{FF2B5EF4-FFF2-40B4-BE49-F238E27FC236}">
                <a16:creationId xmlns:a16="http://schemas.microsoft.com/office/drawing/2014/main" id="{B4A89CD0-74B8-CE2B-1C22-EAD06A58BB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7AFAD95B-9766-8EF3-4D0E-30BF282E495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8E4559A-349A-48ED-A0D6-AA3A1DF8EA87}" type="datetime1">
              <a:rPr lang="fr-CA" smtClean="0"/>
              <a:t>2026-04-03</a:t>
            </a:fld>
            <a:endParaRPr lang="fr-CA"/>
          </a:p>
        </p:txBody>
      </p:sp>
      <p:sp>
        <p:nvSpPr>
          <p:cNvPr id="5" name="Espace réservé du pied de page 4">
            <a:extLst>
              <a:ext uri="{FF2B5EF4-FFF2-40B4-BE49-F238E27FC236}">
                <a16:creationId xmlns:a16="http://schemas.microsoft.com/office/drawing/2014/main" id="{F9FD51F6-54CB-55C9-B7ED-72CFAEEBE9F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CA"/>
          </a:p>
        </p:txBody>
      </p:sp>
      <p:sp>
        <p:nvSpPr>
          <p:cNvPr id="6" name="Espace réservé du numéro de diapositive 5">
            <a:extLst>
              <a:ext uri="{FF2B5EF4-FFF2-40B4-BE49-F238E27FC236}">
                <a16:creationId xmlns:a16="http://schemas.microsoft.com/office/drawing/2014/main" id="{42E694F7-7EC7-B008-3B6E-8CABA726060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3628076-F7D2-4859-8F17-2E85EB02FF1F}" type="slidenum">
              <a:rPr lang="fr-CA" smtClean="0"/>
              <a:t>‹#›</a:t>
            </a:fld>
            <a:endParaRPr lang="fr-CA"/>
          </a:p>
        </p:txBody>
      </p:sp>
    </p:spTree>
    <p:extLst>
      <p:ext uri="{BB962C8B-B14F-4D97-AF65-F5344CB8AC3E}">
        <p14:creationId xmlns:p14="http://schemas.microsoft.com/office/powerpoint/2010/main" val="15449115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3" name="Rectangle 42">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DDD11167-406B-4AC2-5BE3-434EE4E5C8F7}"/>
              </a:ext>
            </a:extLst>
          </p:cNvPr>
          <p:cNvSpPr>
            <a:spLocks noGrp="1"/>
          </p:cNvSpPr>
          <p:nvPr>
            <p:ph type="ctrTitle"/>
          </p:nvPr>
        </p:nvSpPr>
        <p:spPr>
          <a:xfrm>
            <a:off x="1056582" y="1397387"/>
            <a:ext cx="4036334" cy="2387600"/>
          </a:xfrm>
        </p:spPr>
        <p:txBody>
          <a:bodyPr anchor="t">
            <a:normAutofit/>
          </a:bodyPr>
          <a:lstStyle/>
          <a:p>
            <a:pPr algn="l"/>
            <a:r>
              <a:rPr lang="fr-CA" sz="1800" noProof="0"/>
              <a:t>GEI-1092 Techniques d'intelligence artificielle </a:t>
            </a:r>
            <a:br>
              <a:rPr lang="fr-CA" sz="1800" noProof="0"/>
            </a:br>
            <a:r>
              <a:rPr lang="fr-CA" sz="1800" b="1" noProof="0"/>
              <a:t>Building a Sentiment </a:t>
            </a:r>
            <a:r>
              <a:rPr lang="fr-CA" sz="1800" b="1" noProof="0" err="1"/>
              <a:t>Analysis</a:t>
            </a:r>
            <a:r>
              <a:rPr lang="fr-CA" sz="1800" b="1" noProof="0"/>
              <a:t> System for </a:t>
            </a:r>
            <a:r>
              <a:rPr lang="fr-CA" sz="1800" b="1" noProof="0" err="1"/>
              <a:t>Movie</a:t>
            </a:r>
            <a:r>
              <a:rPr lang="fr-CA" sz="1800" b="1" noProof="0"/>
              <a:t> </a:t>
            </a:r>
            <a:r>
              <a:rPr lang="fr-CA" sz="1800" b="1" noProof="0" err="1"/>
              <a:t>Reviews</a:t>
            </a:r>
            <a:br>
              <a:rPr lang="fr-CA" sz="1800" noProof="0"/>
            </a:br>
            <a:r>
              <a:rPr lang="fr-CA" sz="1800" noProof="0" err="1"/>
              <a:t>Presenté</a:t>
            </a:r>
            <a:r>
              <a:rPr lang="fr-CA" sz="1800" noProof="0"/>
              <a:t> </a:t>
            </a:r>
            <a:br>
              <a:rPr lang="fr-CA" sz="1800" noProof="0"/>
            </a:br>
            <a:r>
              <a:rPr lang="fr-CA" sz="1800" noProof="0"/>
              <a:t>à</a:t>
            </a:r>
            <a:br>
              <a:rPr lang="fr-CA" sz="1800" noProof="0"/>
            </a:br>
            <a:r>
              <a:rPr lang="fr-CA" sz="1800" cap="all" noProof="0">
                <a:latin typeface="Times New Roman"/>
                <a:cs typeface="Times New Roman"/>
              </a:rPr>
              <a:t>M. Ahmed </a:t>
            </a:r>
            <a:r>
              <a:rPr lang="fr-CA" sz="1800" cap="all" noProof="0" err="1">
                <a:latin typeface="Times New Roman"/>
                <a:cs typeface="Times New Roman"/>
              </a:rPr>
              <a:t>Ouameur</a:t>
            </a:r>
            <a:r>
              <a:rPr lang="fr-CA" sz="1800" cap="all" noProof="0">
                <a:latin typeface="Times New Roman"/>
                <a:cs typeface="Times New Roman"/>
              </a:rPr>
              <a:t> MESSAOUD</a:t>
            </a:r>
            <a:br>
              <a:rPr lang="fr-CA" sz="1800" noProof="0">
                <a:latin typeface="Times New Roman"/>
                <a:cs typeface="Calibri Light"/>
              </a:rPr>
            </a:br>
            <a:r>
              <a:rPr lang="fr-CA" sz="1800" noProof="0">
                <a:latin typeface="Times New Roman"/>
                <a:cs typeface="Calibri Light"/>
              </a:rPr>
              <a:t>Par :</a:t>
            </a:r>
            <a:endParaRPr lang="fr-CA" sz="1800" noProof="0"/>
          </a:p>
        </p:txBody>
      </p:sp>
      <p:sp>
        <p:nvSpPr>
          <p:cNvPr id="3" name="Sous-titre 2">
            <a:extLst>
              <a:ext uri="{FF2B5EF4-FFF2-40B4-BE49-F238E27FC236}">
                <a16:creationId xmlns:a16="http://schemas.microsoft.com/office/drawing/2014/main" id="{EAD66B6E-9489-CDCF-461E-44B842EA7F65}"/>
              </a:ext>
            </a:extLst>
          </p:cNvPr>
          <p:cNvSpPr>
            <a:spLocks noGrp="1"/>
          </p:cNvSpPr>
          <p:nvPr>
            <p:ph type="subTitle" idx="1"/>
          </p:nvPr>
        </p:nvSpPr>
        <p:spPr>
          <a:xfrm>
            <a:off x="1056583" y="3750764"/>
            <a:ext cx="4036333" cy="1709849"/>
          </a:xfrm>
        </p:spPr>
        <p:txBody>
          <a:bodyPr vert="horz" lIns="91440" tIns="45720" rIns="91440" bIns="45720" rtlCol="0" anchor="b">
            <a:normAutofit/>
          </a:bodyPr>
          <a:lstStyle/>
          <a:p>
            <a:pPr algn="l"/>
            <a:r>
              <a:rPr lang="fr-CA" sz="2000" noProof="0"/>
              <a:t>Deborah Nsamba </a:t>
            </a:r>
            <a:r>
              <a:rPr lang="fr-CA" sz="2000" noProof="0" err="1"/>
              <a:t>Kalombo</a:t>
            </a:r>
            <a:endParaRPr lang="fr-CA" sz="2000" noProof="0"/>
          </a:p>
          <a:p>
            <a:pPr algn="l"/>
            <a:r>
              <a:rPr lang="fr-CA" sz="2000" noProof="0"/>
              <a:t>Ralph </a:t>
            </a:r>
            <a:r>
              <a:rPr lang="fr-CA" sz="2000" noProof="0" err="1"/>
              <a:t>Futa</a:t>
            </a:r>
            <a:endParaRPr lang="fr-CA" sz="2000" noProof="0"/>
          </a:p>
          <a:p>
            <a:pPr algn="l"/>
            <a:r>
              <a:rPr lang="fr-CA" sz="2000" noProof="0"/>
              <a:t>Walid Ben Yahia</a:t>
            </a:r>
          </a:p>
        </p:txBody>
      </p:sp>
      <p:grpSp>
        <p:nvGrpSpPr>
          <p:cNvPr id="45" name="Group 44">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46" name="Rectangle 45">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0" name="Rectangle 49">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 3" descr="Une image contenant logo, Police, texte, symbole&#10;&#10;Description générée automatiquement">
            <a:extLst>
              <a:ext uri="{FF2B5EF4-FFF2-40B4-BE49-F238E27FC236}">
                <a16:creationId xmlns:a16="http://schemas.microsoft.com/office/drawing/2014/main" id="{7B194C34-5215-96EA-C97F-9A926B6F8155}"/>
              </a:ext>
            </a:extLst>
          </p:cNvPr>
          <p:cNvPicPr>
            <a:picLocks noChangeAspect="1"/>
          </p:cNvPicPr>
          <p:nvPr/>
        </p:nvPicPr>
        <p:blipFill>
          <a:blip r:embed="rId2"/>
          <a:srcRect r="-2" b="248"/>
          <a:stretch>
            <a:fillRect/>
          </a:stretch>
        </p:blipFill>
        <p:spPr>
          <a:xfrm>
            <a:off x="5957597" y="666728"/>
            <a:ext cx="5465791" cy="5465791"/>
          </a:xfrm>
          <a:prstGeom prst="rect">
            <a:avLst/>
          </a:prstGeom>
        </p:spPr>
      </p:pic>
      <p:pic>
        <p:nvPicPr>
          <p:cNvPr id="5" name="Picture 8" descr="Une image contenant Police, logo, Graphique, symbole&#10;&#10;Le contenu généré par l’IA peut être incorrect.">
            <a:extLst>
              <a:ext uri="{FF2B5EF4-FFF2-40B4-BE49-F238E27FC236}">
                <a16:creationId xmlns:a16="http://schemas.microsoft.com/office/drawing/2014/main" id="{FC8AE3CF-0147-CECC-1A20-D75ADFEC4F98}"/>
              </a:ext>
            </a:extLst>
          </p:cNvPr>
          <p:cNvPicPr>
            <a:picLocks noChangeAspect="1"/>
          </p:cNvPicPr>
          <p:nvPr/>
        </p:nvPicPr>
        <p:blipFill>
          <a:blip r:embed="rId3"/>
          <a:stretch>
            <a:fillRect/>
          </a:stretch>
        </p:blipFill>
        <p:spPr>
          <a:xfrm>
            <a:off x="0" y="153476"/>
            <a:ext cx="1767993" cy="815411"/>
          </a:xfrm>
          <a:prstGeom prst="rect">
            <a:avLst/>
          </a:prstGeom>
          <a:solidFill>
            <a:schemeClr val="tx2">
              <a:lumMod val="25000"/>
              <a:lumOff val="75000"/>
            </a:schemeClr>
          </a:solidFill>
        </p:spPr>
      </p:pic>
    </p:spTree>
    <p:extLst>
      <p:ext uri="{BB962C8B-B14F-4D97-AF65-F5344CB8AC3E}">
        <p14:creationId xmlns:p14="http://schemas.microsoft.com/office/powerpoint/2010/main" val="25188111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466DCA1-2722-8D03-E8E1-6A8F73926F83}"/>
            </a:ext>
          </a:extLst>
        </p:cNvPr>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3C932366-E9CB-9887-CFC4-7C9BDE80AE63}"/>
              </a:ext>
            </a:extLst>
          </p:cNvPr>
          <p:cNvSpPr>
            <a:spLocks noGrp="1"/>
          </p:cNvSpPr>
          <p:nvPr>
            <p:ph type="title"/>
          </p:nvPr>
        </p:nvSpPr>
        <p:spPr>
          <a:xfrm>
            <a:off x="808638" y="386930"/>
            <a:ext cx="9236700" cy="1188950"/>
          </a:xfrm>
        </p:spPr>
        <p:txBody>
          <a:bodyPr anchor="b">
            <a:normAutofit/>
          </a:bodyPr>
          <a:lstStyle/>
          <a:p>
            <a:r>
              <a:rPr lang="fr-CA" sz="5400"/>
              <a:t>Introduction </a:t>
            </a:r>
          </a:p>
        </p:txBody>
      </p:sp>
      <p:grpSp>
        <p:nvGrpSpPr>
          <p:cNvPr id="40" name="Group 3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41" name="Rectangle 4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4" name="Rectangle 4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DFF0754A-D808-5820-C025-2DA8F1891EA3}"/>
              </a:ext>
            </a:extLst>
          </p:cNvPr>
          <p:cNvSpPr>
            <a:spLocks noGrp="1"/>
          </p:cNvSpPr>
          <p:nvPr>
            <p:ph idx="1"/>
          </p:nvPr>
        </p:nvSpPr>
        <p:spPr>
          <a:xfrm>
            <a:off x="793660" y="2599509"/>
            <a:ext cx="10143668" cy="3435531"/>
          </a:xfrm>
        </p:spPr>
        <p:txBody>
          <a:bodyPr anchor="ctr">
            <a:normAutofit/>
          </a:bodyPr>
          <a:lstStyle/>
          <a:p>
            <a:pPr marL="0" indent="0">
              <a:buNone/>
            </a:pPr>
            <a:r>
              <a:rPr lang="fr-CA" sz="2400"/>
              <a:t>Analyse intelligente des sentiments exprimés dans des critiques de films :</a:t>
            </a:r>
          </a:p>
          <a:p>
            <a:r>
              <a:rPr lang="fr-CA" sz="2400"/>
              <a:t>Prétraitement de données;</a:t>
            </a:r>
          </a:p>
          <a:p>
            <a:r>
              <a:rPr lang="fr-CA" sz="2400"/>
              <a:t>Vectorisation et Tokenisation;</a:t>
            </a:r>
          </a:p>
          <a:p>
            <a:r>
              <a:rPr lang="fr-CA" sz="2400"/>
              <a:t>Architecture du modèle;</a:t>
            </a:r>
          </a:p>
          <a:p>
            <a:r>
              <a:rPr lang="fr-CA" sz="2400"/>
              <a:t>Évaluation du modèle;</a:t>
            </a:r>
          </a:p>
          <a:p>
            <a:r>
              <a:rPr lang="fr-CA" sz="2400"/>
              <a:t>Interprétation des résultats.</a:t>
            </a:r>
          </a:p>
          <a:p>
            <a:r>
              <a:rPr lang="fr-CA" sz="2400"/>
              <a:t>GitHub</a:t>
            </a:r>
          </a:p>
          <a:p>
            <a:endParaRPr lang="fr-CA" sz="2400"/>
          </a:p>
          <a:p>
            <a:pPr marL="0" indent="0">
              <a:buNone/>
            </a:pPr>
            <a:endParaRPr lang="fr-CA" sz="2400"/>
          </a:p>
        </p:txBody>
      </p:sp>
    </p:spTree>
    <p:extLst>
      <p:ext uri="{BB962C8B-B14F-4D97-AF65-F5344CB8AC3E}">
        <p14:creationId xmlns:p14="http://schemas.microsoft.com/office/powerpoint/2010/main" val="17558627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149FB5C3-7336-4FE0-A30C-CC0A3646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 name="Group 39">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41" name="Rectangle 40">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4" name="Rectangle 43">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59B06612-5040-9155-595A-F6836323CACB}"/>
              </a:ext>
            </a:extLst>
          </p:cNvPr>
          <p:cNvSpPr>
            <a:spLocks noGrp="1"/>
          </p:cNvSpPr>
          <p:nvPr>
            <p:ph type="title"/>
          </p:nvPr>
        </p:nvSpPr>
        <p:spPr>
          <a:xfrm>
            <a:off x="1057025" y="922644"/>
            <a:ext cx="5040285" cy="1169585"/>
          </a:xfrm>
        </p:spPr>
        <p:txBody>
          <a:bodyPr anchor="b">
            <a:normAutofit/>
          </a:bodyPr>
          <a:lstStyle/>
          <a:p>
            <a:r>
              <a:rPr lang="fr-CA" sz="4000"/>
              <a:t>Data Preparation </a:t>
            </a:r>
          </a:p>
        </p:txBody>
      </p:sp>
      <p:sp>
        <p:nvSpPr>
          <p:cNvPr id="46" name="Rectangle 45">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985502EA-C7C1-2C4D-24AF-6B9291526141}"/>
              </a:ext>
            </a:extLst>
          </p:cNvPr>
          <p:cNvSpPr>
            <a:spLocks noGrp="1"/>
          </p:cNvSpPr>
          <p:nvPr>
            <p:ph idx="1"/>
          </p:nvPr>
        </p:nvSpPr>
        <p:spPr>
          <a:xfrm>
            <a:off x="1055715" y="2508105"/>
            <a:ext cx="5040285" cy="3632493"/>
          </a:xfrm>
        </p:spPr>
        <p:txBody>
          <a:bodyPr anchor="ctr">
            <a:normAutofit/>
          </a:bodyPr>
          <a:lstStyle/>
          <a:p>
            <a:r>
              <a:rPr lang="fr-CA" sz="2000"/>
              <a:t>Nettoyage du texte.</a:t>
            </a:r>
          </a:p>
          <a:p>
            <a:r>
              <a:rPr lang="fr-CA" sz="2000"/>
              <a:t>Chargement des données à partir de la base de données</a:t>
            </a:r>
          </a:p>
          <a:p>
            <a:endParaRPr lang="fr-CA" sz="2000"/>
          </a:p>
        </p:txBody>
      </p:sp>
      <p:pic>
        <p:nvPicPr>
          <p:cNvPr id="7" name="Image 6">
            <a:extLst>
              <a:ext uri="{FF2B5EF4-FFF2-40B4-BE49-F238E27FC236}">
                <a16:creationId xmlns:a16="http://schemas.microsoft.com/office/drawing/2014/main" id="{7416E052-2FF0-7309-7CE1-4E4A65025F0F}"/>
              </a:ext>
            </a:extLst>
          </p:cNvPr>
          <p:cNvPicPr>
            <a:picLocks noChangeAspect="1"/>
          </p:cNvPicPr>
          <p:nvPr/>
        </p:nvPicPr>
        <p:blipFill>
          <a:blip r:embed="rId2"/>
          <a:stretch>
            <a:fillRect/>
          </a:stretch>
        </p:blipFill>
        <p:spPr>
          <a:xfrm>
            <a:off x="7385327" y="774285"/>
            <a:ext cx="3511800" cy="2581173"/>
          </a:xfrm>
          <a:prstGeom prst="rect">
            <a:avLst/>
          </a:prstGeom>
        </p:spPr>
      </p:pic>
      <p:pic>
        <p:nvPicPr>
          <p:cNvPr id="5" name="Image 4" descr="Une image contenant texte, capture d’écran, Police, nombre&#10;&#10;Le contenu généré par l’IA peut être incorrect.">
            <a:extLst>
              <a:ext uri="{FF2B5EF4-FFF2-40B4-BE49-F238E27FC236}">
                <a16:creationId xmlns:a16="http://schemas.microsoft.com/office/drawing/2014/main" id="{BC574631-7971-FE16-D219-83542B1D782F}"/>
              </a:ext>
            </a:extLst>
          </p:cNvPr>
          <p:cNvPicPr>
            <a:picLocks noChangeAspect="1"/>
          </p:cNvPicPr>
          <p:nvPr/>
        </p:nvPicPr>
        <p:blipFill>
          <a:blip r:embed="rId3"/>
          <a:stretch>
            <a:fillRect/>
          </a:stretch>
        </p:blipFill>
        <p:spPr>
          <a:xfrm>
            <a:off x="7284268" y="3575074"/>
            <a:ext cx="3713917" cy="2581173"/>
          </a:xfrm>
          <a:prstGeom prst="rect">
            <a:avLst/>
          </a:prstGeom>
        </p:spPr>
      </p:pic>
    </p:spTree>
    <p:extLst>
      <p:ext uri="{BB962C8B-B14F-4D97-AF65-F5344CB8AC3E}">
        <p14:creationId xmlns:p14="http://schemas.microsoft.com/office/powerpoint/2010/main" val="26048522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77918B3-96ED-809D-27C6-39E786E66A9F}"/>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545A42ED-B46F-BBF5-A826-97E2D254370D}"/>
              </a:ext>
            </a:extLst>
          </p:cNvPr>
          <p:cNvSpPr>
            <a:spLocks noGrp="1"/>
          </p:cNvSpPr>
          <p:nvPr>
            <p:ph type="title"/>
          </p:nvPr>
        </p:nvSpPr>
        <p:spPr>
          <a:xfrm>
            <a:off x="793662" y="386930"/>
            <a:ext cx="10066122" cy="1298448"/>
          </a:xfrm>
        </p:spPr>
        <p:txBody>
          <a:bodyPr anchor="b">
            <a:normAutofit/>
          </a:bodyPr>
          <a:lstStyle/>
          <a:p>
            <a:r>
              <a:rPr lang="fr-CA"/>
              <a:t>Tokenization and Sequence Vectorization</a:t>
            </a:r>
          </a:p>
        </p:txBody>
      </p:sp>
      <p:sp>
        <p:nvSpPr>
          <p:cNvPr id="14" name="Rectangle 13">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a:extLst>
              <a:ext uri="{FF2B5EF4-FFF2-40B4-BE49-F238E27FC236}">
                <a16:creationId xmlns:a16="http://schemas.microsoft.com/office/drawing/2014/main" id="{1016AC00-2EA5-CAC5-302F-99B14893B042}"/>
              </a:ext>
            </a:extLst>
          </p:cNvPr>
          <p:cNvSpPr>
            <a:spLocks noGrp="1"/>
          </p:cNvSpPr>
          <p:nvPr>
            <p:ph idx="1"/>
          </p:nvPr>
        </p:nvSpPr>
        <p:spPr>
          <a:xfrm>
            <a:off x="793661" y="2599509"/>
            <a:ext cx="4530898" cy="3639450"/>
          </a:xfrm>
        </p:spPr>
        <p:txBody>
          <a:bodyPr anchor="ctr">
            <a:normAutofit/>
          </a:bodyPr>
          <a:lstStyle/>
          <a:p>
            <a:r>
              <a:rPr lang="en-US" sz="2000" err="1"/>
              <a:t>Diviser</a:t>
            </a:r>
            <a:r>
              <a:rPr lang="en-US" sz="2000"/>
              <a:t> un flux de </a:t>
            </a:r>
            <a:r>
              <a:rPr lang="en-US" sz="2000" err="1"/>
              <a:t>texte</a:t>
            </a:r>
            <a:r>
              <a:rPr lang="en-US" sz="2000"/>
              <a:t> </a:t>
            </a:r>
            <a:r>
              <a:rPr lang="en-US" sz="2000" err="1"/>
              <a:t>en</a:t>
            </a:r>
            <a:r>
              <a:rPr lang="en-US" sz="2000"/>
              <a:t> unites </a:t>
            </a:r>
            <a:r>
              <a:rPr lang="en-US" sz="2000" err="1"/>
              <a:t>minimales</a:t>
            </a:r>
            <a:r>
              <a:rPr lang="en-US" sz="2000"/>
              <a:t> de </a:t>
            </a:r>
            <a:r>
              <a:rPr lang="en-US" sz="2000" err="1"/>
              <a:t>sens.</a:t>
            </a:r>
            <a:r>
              <a:rPr lang="en-US" sz="2000"/>
              <a:t> (tokens);</a:t>
            </a:r>
          </a:p>
          <a:p>
            <a:r>
              <a:rPr lang="en-US" sz="2000" err="1"/>
              <a:t>Attribuer</a:t>
            </a:r>
            <a:r>
              <a:rPr lang="en-US" sz="2000"/>
              <a:t> à </a:t>
            </a:r>
            <a:r>
              <a:rPr lang="en-US" sz="2000" err="1"/>
              <a:t>chaque</a:t>
            </a:r>
            <a:r>
              <a:rPr lang="en-US" sz="2000"/>
              <a:t> mot un </a:t>
            </a:r>
            <a:r>
              <a:rPr lang="en-US" sz="2000" err="1"/>
              <a:t>identifiant</a:t>
            </a:r>
            <a:r>
              <a:rPr lang="en-US" sz="2000"/>
              <a:t> numérique;</a:t>
            </a:r>
          </a:p>
          <a:p>
            <a:r>
              <a:rPr lang="en-US" sz="2000" err="1"/>
              <a:t>Réduire</a:t>
            </a:r>
            <a:r>
              <a:rPr lang="en-US" sz="2000"/>
              <a:t> la dimension pour optimizer les </a:t>
            </a:r>
            <a:r>
              <a:rPr lang="en-US" sz="2000" err="1"/>
              <a:t>calculs</a:t>
            </a:r>
            <a:r>
              <a:rPr lang="en-US" sz="2000"/>
              <a:t>.</a:t>
            </a:r>
          </a:p>
        </p:txBody>
      </p:sp>
      <p:pic>
        <p:nvPicPr>
          <p:cNvPr id="5" name="Espace réservé du contenu 4">
            <a:extLst>
              <a:ext uri="{FF2B5EF4-FFF2-40B4-BE49-F238E27FC236}">
                <a16:creationId xmlns:a16="http://schemas.microsoft.com/office/drawing/2014/main" id="{70376A86-2870-4C7E-FA7D-6F657E2650B3}"/>
              </a:ext>
            </a:extLst>
          </p:cNvPr>
          <p:cNvPicPr>
            <a:picLocks noChangeAspect="1"/>
          </p:cNvPicPr>
          <p:nvPr/>
        </p:nvPicPr>
        <p:blipFill>
          <a:blip r:embed="rId2"/>
          <a:stretch>
            <a:fillRect/>
          </a:stretch>
        </p:blipFill>
        <p:spPr>
          <a:xfrm>
            <a:off x="5911532" y="3330635"/>
            <a:ext cx="5150277" cy="2021483"/>
          </a:xfrm>
          <a:prstGeom prst="rect">
            <a:avLst/>
          </a:prstGeom>
        </p:spPr>
      </p:pic>
      <p:sp>
        <p:nvSpPr>
          <p:cNvPr id="18" name="Rectangle 17">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543438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AAAE94E3-A7DB-4868-B1E3-E49703488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64926223-6CF5-446E-DB4A-A5C45A4ED2A3}"/>
              </a:ext>
            </a:extLst>
          </p:cNvPr>
          <p:cNvSpPr>
            <a:spLocks noGrp="1"/>
          </p:cNvSpPr>
          <p:nvPr>
            <p:ph type="title"/>
          </p:nvPr>
        </p:nvSpPr>
        <p:spPr>
          <a:xfrm>
            <a:off x="589560" y="856180"/>
            <a:ext cx="5279408" cy="1128068"/>
          </a:xfrm>
        </p:spPr>
        <p:txBody>
          <a:bodyPr anchor="ctr">
            <a:normAutofit/>
          </a:bodyPr>
          <a:lstStyle/>
          <a:p>
            <a:r>
              <a:rPr lang="fr-CA" sz="3700"/>
              <a:t> Model Design and Training</a:t>
            </a:r>
          </a:p>
        </p:txBody>
      </p:sp>
      <p:grpSp>
        <p:nvGrpSpPr>
          <p:cNvPr id="16" name="Group 15">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7" name="Rectangle 16">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Rectangle 19">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123821"/>
            <a:ext cx="4975066"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ontent Placeholder 10">
            <a:extLst>
              <a:ext uri="{FF2B5EF4-FFF2-40B4-BE49-F238E27FC236}">
                <a16:creationId xmlns:a16="http://schemas.microsoft.com/office/drawing/2014/main" id="{B07D2939-EB4F-D7C0-B8F6-9D6E6E511177}"/>
              </a:ext>
            </a:extLst>
          </p:cNvPr>
          <p:cNvSpPr>
            <a:spLocks noGrp="1"/>
          </p:cNvSpPr>
          <p:nvPr>
            <p:ph idx="1"/>
          </p:nvPr>
        </p:nvSpPr>
        <p:spPr>
          <a:xfrm>
            <a:off x="590719" y="2330505"/>
            <a:ext cx="5278066" cy="3979585"/>
          </a:xfrm>
        </p:spPr>
        <p:txBody>
          <a:bodyPr anchor="ctr">
            <a:normAutofit/>
          </a:bodyPr>
          <a:lstStyle/>
          <a:p>
            <a:r>
              <a:rPr lang="fr-CA" sz="2000" b="1" err="1"/>
              <a:t>Embedding</a:t>
            </a:r>
            <a:r>
              <a:rPr lang="fr-CA" sz="2000" b="1"/>
              <a:t>  :</a:t>
            </a:r>
            <a:r>
              <a:rPr lang="fr-CA" sz="2000"/>
              <a:t> Convertit les index de mots en vecteurs denses de taille n. Les mots ayant un sens proche sont regroupés mathématiquement.</a:t>
            </a:r>
          </a:p>
          <a:p>
            <a:r>
              <a:rPr lang="fr-CA" sz="2000" b="1"/>
              <a:t>Double Couche Bi-LSTM </a:t>
            </a:r>
            <a:r>
              <a:rPr lang="fr-CA" sz="2000"/>
              <a:t>: Analyse le texte de gauche à droite et de droite à gauche pour capturer le contexte global. </a:t>
            </a:r>
          </a:p>
          <a:p>
            <a:r>
              <a:rPr lang="fr-CA" sz="2000"/>
              <a:t>On veut éviter l’</a:t>
            </a:r>
            <a:r>
              <a:rPr lang="fr-CA" sz="2000" err="1"/>
              <a:t>overfitting</a:t>
            </a:r>
            <a:r>
              <a:rPr lang="fr-CA" sz="2000"/>
              <a:t> à </a:t>
            </a:r>
            <a:r>
              <a:rPr lang="fr-CA" sz="2000" b="1"/>
              <a:t>Dropout(0.5)</a:t>
            </a:r>
            <a:r>
              <a:rPr lang="fr-CA" sz="2000"/>
              <a:t> qui désactivera la ½ des neurones.</a:t>
            </a:r>
          </a:p>
          <a:p>
            <a:r>
              <a:rPr lang="fr-CA" sz="2000"/>
              <a:t>La fonction sigmoïde nous aide à produire une probabilité de 0 et de 1</a:t>
            </a:r>
          </a:p>
          <a:p>
            <a:endParaRPr lang="fr-CA" sz="2000"/>
          </a:p>
          <a:p>
            <a:endParaRPr lang="en-US" sz="2000"/>
          </a:p>
        </p:txBody>
      </p:sp>
      <p:sp>
        <p:nvSpPr>
          <p:cNvPr id="22" name="Rectangle 21">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7447"/>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 6">
            <a:extLst>
              <a:ext uri="{FF2B5EF4-FFF2-40B4-BE49-F238E27FC236}">
                <a16:creationId xmlns:a16="http://schemas.microsoft.com/office/drawing/2014/main" id="{C41420A9-E8E3-B4FB-1516-4FA22432CD83}"/>
              </a:ext>
            </a:extLst>
          </p:cNvPr>
          <p:cNvPicPr>
            <a:picLocks noChangeAspect="1"/>
          </p:cNvPicPr>
          <p:nvPr/>
        </p:nvPicPr>
        <p:blipFill>
          <a:blip r:embed="rId2"/>
          <a:stretch>
            <a:fillRect/>
          </a:stretch>
        </p:blipFill>
        <p:spPr>
          <a:xfrm>
            <a:off x="7083423" y="662952"/>
            <a:ext cx="4397433" cy="2356635"/>
          </a:xfrm>
          <a:prstGeom prst="rect">
            <a:avLst/>
          </a:prstGeom>
        </p:spPr>
      </p:pic>
      <p:sp>
        <p:nvSpPr>
          <p:cNvPr id="26" name="Rectangle 25">
            <a:extLst>
              <a:ext uri="{FF2B5EF4-FFF2-40B4-BE49-F238E27FC236}">
                <a16:creationId xmlns:a16="http://schemas.microsoft.com/office/drawing/2014/main" id="{8CB5D2D7-DF65-4E86-BFBA-FFB9B5AC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05479"/>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Espace réservé du contenu 4">
            <a:extLst>
              <a:ext uri="{FF2B5EF4-FFF2-40B4-BE49-F238E27FC236}">
                <a16:creationId xmlns:a16="http://schemas.microsoft.com/office/drawing/2014/main" id="{C8DDD11D-A090-5A7B-5531-E1E63F6C8BCD}"/>
              </a:ext>
            </a:extLst>
          </p:cNvPr>
          <p:cNvPicPr>
            <a:picLocks noChangeAspect="1"/>
          </p:cNvPicPr>
          <p:nvPr/>
        </p:nvPicPr>
        <p:blipFill>
          <a:blip r:embed="rId3"/>
          <a:stretch>
            <a:fillRect/>
          </a:stretch>
        </p:blipFill>
        <p:spPr>
          <a:xfrm>
            <a:off x="8114558" y="3707894"/>
            <a:ext cx="2333299" cy="2518756"/>
          </a:xfrm>
          <a:prstGeom prst="rect">
            <a:avLst/>
          </a:prstGeom>
        </p:spPr>
      </p:pic>
    </p:spTree>
    <p:extLst>
      <p:ext uri="{BB962C8B-B14F-4D97-AF65-F5344CB8AC3E}">
        <p14:creationId xmlns:p14="http://schemas.microsoft.com/office/powerpoint/2010/main" val="17685059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7A6EF99-EC8D-A649-19D5-AA5F7A361E0F}"/>
              </a:ext>
            </a:extLst>
          </p:cNvPr>
          <p:cNvSpPr>
            <a:spLocks noGrp="1"/>
          </p:cNvSpPr>
          <p:nvPr>
            <p:ph type="title"/>
          </p:nvPr>
        </p:nvSpPr>
        <p:spPr/>
        <p:txBody>
          <a:bodyPr/>
          <a:lstStyle/>
          <a:p>
            <a:r>
              <a:rPr lang="fr-CA"/>
              <a:t>Model Design and Training</a:t>
            </a:r>
          </a:p>
        </p:txBody>
      </p:sp>
      <p:pic>
        <p:nvPicPr>
          <p:cNvPr id="5" name="Espace réservé du contenu 4">
            <a:extLst>
              <a:ext uri="{FF2B5EF4-FFF2-40B4-BE49-F238E27FC236}">
                <a16:creationId xmlns:a16="http://schemas.microsoft.com/office/drawing/2014/main" id="{2A39DE6B-1FC0-2400-4CBD-421049888400}"/>
              </a:ext>
            </a:extLst>
          </p:cNvPr>
          <p:cNvPicPr>
            <a:picLocks noGrp="1" noChangeAspect="1"/>
          </p:cNvPicPr>
          <p:nvPr>
            <p:ph idx="1"/>
          </p:nvPr>
        </p:nvPicPr>
        <p:blipFill>
          <a:blip r:embed="rId2"/>
          <a:stretch>
            <a:fillRect/>
          </a:stretch>
        </p:blipFill>
        <p:spPr>
          <a:xfrm>
            <a:off x="622998" y="1874786"/>
            <a:ext cx="6501283" cy="4351338"/>
          </a:xfrm>
          <a:prstGeom prst="rect">
            <a:avLst/>
          </a:prstGeom>
        </p:spPr>
      </p:pic>
      <p:pic>
        <p:nvPicPr>
          <p:cNvPr id="7" name="Image 6">
            <a:extLst>
              <a:ext uri="{FF2B5EF4-FFF2-40B4-BE49-F238E27FC236}">
                <a16:creationId xmlns:a16="http://schemas.microsoft.com/office/drawing/2014/main" id="{6E672F52-110C-9F8E-9324-6122BE7E4124}"/>
              </a:ext>
            </a:extLst>
          </p:cNvPr>
          <p:cNvPicPr>
            <a:picLocks noChangeAspect="1"/>
          </p:cNvPicPr>
          <p:nvPr/>
        </p:nvPicPr>
        <p:blipFill>
          <a:blip r:embed="rId3"/>
          <a:stretch>
            <a:fillRect/>
          </a:stretch>
        </p:blipFill>
        <p:spPr>
          <a:xfrm>
            <a:off x="6780600" y="2716615"/>
            <a:ext cx="5182323" cy="2972215"/>
          </a:xfrm>
          <a:prstGeom prst="rect">
            <a:avLst/>
          </a:prstGeom>
        </p:spPr>
      </p:pic>
    </p:spTree>
    <p:extLst>
      <p:ext uri="{BB962C8B-B14F-4D97-AF65-F5344CB8AC3E}">
        <p14:creationId xmlns:p14="http://schemas.microsoft.com/office/powerpoint/2010/main" val="32389151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139BC509-9CF6-CE94-1886-7EBB2261BD54}"/>
              </a:ext>
            </a:extLst>
          </p:cNvPr>
          <p:cNvSpPr>
            <a:spLocks noGrp="1"/>
          </p:cNvSpPr>
          <p:nvPr>
            <p:ph type="title"/>
          </p:nvPr>
        </p:nvSpPr>
        <p:spPr>
          <a:xfrm>
            <a:off x="793662" y="386930"/>
            <a:ext cx="10066122" cy="1298448"/>
          </a:xfrm>
        </p:spPr>
        <p:txBody>
          <a:bodyPr anchor="b">
            <a:normAutofit/>
          </a:bodyPr>
          <a:lstStyle/>
          <a:p>
            <a:r>
              <a:rPr lang="fr-CA" sz="4800"/>
              <a:t>Model Design and Training</a:t>
            </a:r>
          </a:p>
        </p:txBody>
      </p:sp>
      <p:sp>
        <p:nvSpPr>
          <p:cNvPr id="26" name="Rectangle 25">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1">
            <a:extLst>
              <a:ext uri="{FF2B5EF4-FFF2-40B4-BE49-F238E27FC236}">
                <a16:creationId xmlns:a16="http://schemas.microsoft.com/office/drawing/2014/main" id="{5004AB8A-45E0-2A08-1EF4-F7511ADBEEA2}"/>
              </a:ext>
            </a:extLst>
          </p:cNvPr>
          <p:cNvSpPr>
            <a:spLocks noGrp="1" noChangeArrowheads="1"/>
          </p:cNvSpPr>
          <p:nvPr>
            <p:ph idx="1"/>
          </p:nvPr>
        </p:nvSpPr>
        <p:spPr bwMode="auto">
          <a:xfrm>
            <a:off x="793661" y="2599509"/>
            <a:ext cx="4530898" cy="36394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Char char="•"/>
              <a:tabLst/>
            </a:pPr>
            <a:r>
              <a:rPr kumimoji="0" lang="fr-FR" altLang="fr-FR" sz="2000" b="1" i="0" u="none" strike="noStrike" cap="none" normalizeH="0" baseline="0">
                <a:ln>
                  <a:noFill/>
                </a:ln>
                <a:effectLst/>
                <a:latin typeface="Arial" panose="020B0604020202020204" pitchFamily="34" charset="0"/>
              </a:rPr>
              <a:t>Split :</a:t>
            </a:r>
            <a:r>
              <a:rPr kumimoji="0" lang="fr-FR" altLang="fr-FR" sz="2000" b="0" i="0" u="none" strike="noStrike" cap="none" normalizeH="0" baseline="0">
                <a:ln>
                  <a:noFill/>
                </a:ln>
                <a:effectLst/>
                <a:latin typeface="Arial" panose="020B0604020202020204" pitchFamily="34" charset="0"/>
              </a:rPr>
              <a:t> Empêche le modèle d'apprendre par cœur et permet d'évaluer sa capacité à prédire de nouveaux sentiments.</a:t>
            </a:r>
          </a:p>
          <a:p>
            <a:pPr marL="0" marR="0" lvl="0" indent="0" defTabSz="914400" rtl="0" eaLnBrk="0" fontAlgn="base" latinLnBrk="0" hangingPunct="0">
              <a:spcBef>
                <a:spcPct val="0"/>
              </a:spcBef>
              <a:spcAft>
                <a:spcPts val="600"/>
              </a:spcAft>
              <a:buClrTx/>
              <a:buSzTx/>
              <a:buFontTx/>
              <a:buChar char="•"/>
              <a:tabLst/>
            </a:pPr>
            <a:r>
              <a:rPr kumimoji="0" lang="fr-FR" altLang="fr-FR" sz="2000" b="1" i="0" u="none" strike="noStrike" cap="none" normalizeH="0" baseline="0">
                <a:ln>
                  <a:noFill/>
                </a:ln>
                <a:effectLst/>
                <a:latin typeface="Arial" panose="020B0604020202020204" pitchFamily="34" charset="0"/>
              </a:rPr>
              <a:t>Batch Size 64 :</a:t>
            </a:r>
            <a:r>
              <a:rPr kumimoji="0" lang="fr-FR" altLang="fr-FR" sz="2000" b="0" i="0" u="none" strike="noStrike" cap="none" normalizeH="0" baseline="0">
                <a:ln>
                  <a:noFill/>
                </a:ln>
                <a:effectLst/>
                <a:latin typeface="Arial" panose="020B0604020202020204" pitchFamily="34" charset="0"/>
              </a:rPr>
              <a:t> Optimise la vitesse de calcul et la stabilité de l'apprentissage tout en respectant les limites de la mémoire machine.</a:t>
            </a:r>
          </a:p>
        </p:txBody>
      </p:sp>
      <p:pic>
        <p:nvPicPr>
          <p:cNvPr id="6" name="Espace réservé du contenu 4">
            <a:extLst>
              <a:ext uri="{FF2B5EF4-FFF2-40B4-BE49-F238E27FC236}">
                <a16:creationId xmlns:a16="http://schemas.microsoft.com/office/drawing/2014/main" id="{919C4C62-DF9C-8B24-4CF7-1C7C1C811AB9}"/>
              </a:ext>
            </a:extLst>
          </p:cNvPr>
          <p:cNvPicPr>
            <a:picLocks noChangeAspect="1"/>
          </p:cNvPicPr>
          <p:nvPr/>
        </p:nvPicPr>
        <p:blipFill>
          <a:blip r:embed="rId2"/>
          <a:stretch>
            <a:fillRect/>
          </a:stretch>
        </p:blipFill>
        <p:spPr>
          <a:xfrm>
            <a:off x="5911532" y="2712602"/>
            <a:ext cx="5150277" cy="3257549"/>
          </a:xfrm>
          <a:prstGeom prst="rect">
            <a:avLst/>
          </a:prstGeom>
        </p:spPr>
      </p:pic>
      <p:sp>
        <p:nvSpPr>
          <p:cNvPr id="30" name="Rectangle 29">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002668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FFB60E8C-7224-44A4-87A0-46A1711DD2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B8C67776-70C8-3D62-19B5-DD5C7F385FB8}"/>
              </a:ext>
            </a:extLst>
          </p:cNvPr>
          <p:cNvSpPr>
            <a:spLocks noGrp="1"/>
          </p:cNvSpPr>
          <p:nvPr>
            <p:ph type="title"/>
          </p:nvPr>
        </p:nvSpPr>
        <p:spPr>
          <a:xfrm>
            <a:off x="795528" y="386930"/>
            <a:ext cx="10141799" cy="1300554"/>
          </a:xfrm>
        </p:spPr>
        <p:txBody>
          <a:bodyPr vert="horz" lIns="91440" tIns="45720" rIns="91440" bIns="45720" rtlCol="0" anchor="b">
            <a:normAutofit/>
          </a:bodyPr>
          <a:lstStyle/>
          <a:p>
            <a:r>
              <a:rPr lang="en-US" sz="4800" kern="1200">
                <a:solidFill>
                  <a:schemeClr val="tx1"/>
                </a:solidFill>
                <a:latin typeface="+mj-lt"/>
                <a:ea typeface="+mj-ea"/>
                <a:cs typeface="+mj-cs"/>
              </a:rPr>
              <a:t>Carbon Footprint Analysis</a:t>
            </a:r>
          </a:p>
        </p:txBody>
      </p:sp>
      <p:sp>
        <p:nvSpPr>
          <p:cNvPr id="14" name="Rectangle 13">
            <a:extLst>
              <a:ext uri="{FF2B5EF4-FFF2-40B4-BE49-F238E27FC236}">
                <a16:creationId xmlns:a16="http://schemas.microsoft.com/office/drawing/2014/main" id="{5DA32751-37A2-45C0-BE94-63D375E270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Espace réservé du contenu 4">
            <a:extLst>
              <a:ext uri="{FF2B5EF4-FFF2-40B4-BE49-F238E27FC236}">
                <a16:creationId xmlns:a16="http://schemas.microsoft.com/office/drawing/2014/main" id="{E72277A8-6652-2AA0-23B5-7788F154BBF5}"/>
              </a:ext>
            </a:extLst>
          </p:cNvPr>
          <p:cNvPicPr>
            <a:picLocks noGrp="1" noChangeAspect="1"/>
          </p:cNvPicPr>
          <p:nvPr>
            <p:ph idx="1"/>
          </p:nvPr>
        </p:nvPicPr>
        <p:blipFill>
          <a:blip r:embed="rId2"/>
          <a:stretch>
            <a:fillRect/>
          </a:stretch>
        </p:blipFill>
        <p:spPr>
          <a:xfrm>
            <a:off x="5524736" y="3538781"/>
            <a:ext cx="5150277" cy="1240607"/>
          </a:xfrm>
          <a:prstGeom prst="rect">
            <a:avLst/>
          </a:prstGeom>
        </p:spPr>
      </p:pic>
      <p:sp>
        <p:nvSpPr>
          <p:cNvPr id="7" name="ZoneTexte 6">
            <a:extLst>
              <a:ext uri="{FF2B5EF4-FFF2-40B4-BE49-F238E27FC236}">
                <a16:creationId xmlns:a16="http://schemas.microsoft.com/office/drawing/2014/main" id="{A99CFDE1-1679-5644-F83A-CE8A07F9D40F}"/>
              </a:ext>
            </a:extLst>
          </p:cNvPr>
          <p:cNvSpPr txBox="1"/>
          <p:nvPr/>
        </p:nvSpPr>
        <p:spPr>
          <a:xfrm>
            <a:off x="496919" y="2517349"/>
            <a:ext cx="4530898" cy="3639450"/>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1900"/>
              <a:t>Pour </a:t>
            </a:r>
            <a:r>
              <a:rPr lang="en-US" sz="1900" err="1"/>
              <a:t>évaluer</a:t>
            </a:r>
            <a:r>
              <a:rPr lang="en-US" sz="1900"/>
              <a:t> </a:t>
            </a:r>
            <a:r>
              <a:rPr lang="en-US" sz="1900" err="1"/>
              <a:t>l'impact</a:t>
            </a:r>
            <a:r>
              <a:rPr lang="en-US" sz="1900"/>
              <a:t> </a:t>
            </a:r>
            <a:r>
              <a:rPr lang="en-US" sz="1900" err="1"/>
              <a:t>environnemental</a:t>
            </a:r>
            <a:r>
              <a:rPr lang="en-US" sz="1900"/>
              <a:t> </a:t>
            </a:r>
            <a:r>
              <a:rPr lang="en-US" sz="1900" err="1"/>
              <a:t>lié</a:t>
            </a:r>
            <a:r>
              <a:rPr lang="en-US" sz="1900"/>
              <a:t> à </a:t>
            </a:r>
            <a:r>
              <a:rPr lang="en-US" sz="1900" err="1"/>
              <a:t>l'entraînement</a:t>
            </a:r>
            <a:r>
              <a:rPr lang="en-US" sz="1900"/>
              <a:t> du </a:t>
            </a:r>
            <a:r>
              <a:rPr lang="en-US" sz="1900" err="1"/>
              <a:t>modèle</a:t>
            </a:r>
            <a:r>
              <a:rPr lang="en-US" sz="1900"/>
              <a:t>, </a:t>
            </a:r>
            <a:r>
              <a:rPr lang="en-US" sz="1900" err="1"/>
              <a:t>l'outil</a:t>
            </a:r>
            <a:r>
              <a:rPr lang="en-US" sz="1900"/>
              <a:t> </a:t>
            </a:r>
            <a:r>
              <a:rPr lang="en-US" sz="1900" err="1"/>
              <a:t>CodeCarbon</a:t>
            </a:r>
            <a:r>
              <a:rPr lang="en-US" sz="1900"/>
              <a:t> a </a:t>
            </a:r>
            <a:r>
              <a:rPr lang="en-US" sz="1900" err="1"/>
              <a:t>été</a:t>
            </a:r>
            <a:r>
              <a:rPr lang="en-US" sz="1900"/>
              <a:t> </a:t>
            </a:r>
            <a:r>
              <a:rPr lang="en-US" sz="1900" err="1"/>
              <a:t>intégré</a:t>
            </a:r>
            <a:r>
              <a:rPr lang="en-US" sz="1900"/>
              <a:t> au processus. </a:t>
            </a:r>
            <a:r>
              <a:rPr lang="en-US" sz="1900" err="1"/>
              <a:t>Celui</a:t>
            </a:r>
            <a:r>
              <a:rPr lang="en-US" sz="1900"/>
              <a:t>-ci assure un </a:t>
            </a:r>
            <a:r>
              <a:rPr lang="en-US" sz="1900" err="1"/>
              <a:t>suivi</a:t>
            </a:r>
            <a:r>
              <a:rPr lang="en-US" sz="1900"/>
              <a:t> de la </a:t>
            </a:r>
            <a:r>
              <a:rPr lang="en-US" sz="1900" err="1"/>
              <a:t>consommation</a:t>
            </a:r>
            <a:r>
              <a:rPr lang="en-US" sz="1900"/>
              <a:t> </a:t>
            </a:r>
            <a:r>
              <a:rPr lang="en-US" sz="1900" err="1"/>
              <a:t>d'énergie</a:t>
            </a:r>
            <a:r>
              <a:rPr lang="en-US" sz="1900"/>
              <a:t> </a:t>
            </a:r>
            <a:r>
              <a:rPr lang="en-US" sz="1900" err="1"/>
              <a:t>durant</a:t>
            </a:r>
            <a:r>
              <a:rPr lang="en-US" sz="1900"/>
              <a:t> la phase </a:t>
            </a:r>
            <a:r>
              <a:rPr lang="en-US" sz="1900" err="1"/>
              <a:t>d'apprentissage</a:t>
            </a:r>
            <a:r>
              <a:rPr lang="en-US" sz="1900"/>
              <a:t> et </a:t>
            </a:r>
            <a:r>
              <a:rPr lang="en-US" sz="1900" err="1"/>
              <a:t>estime</a:t>
            </a:r>
            <a:r>
              <a:rPr lang="en-US" sz="1900"/>
              <a:t> les </a:t>
            </a:r>
            <a:r>
              <a:rPr lang="en-US" sz="1900" err="1"/>
              <a:t>émissions</a:t>
            </a:r>
            <a:r>
              <a:rPr lang="en-US" sz="1900"/>
              <a:t> de </a:t>
            </a:r>
            <a:r>
              <a:rPr lang="en-US" sz="1900" err="1"/>
              <a:t>gaz</a:t>
            </a:r>
            <a:r>
              <a:rPr lang="en-US" sz="1900"/>
              <a:t> à </a:t>
            </a:r>
            <a:r>
              <a:rPr lang="en-US" sz="1900" err="1"/>
              <a:t>effet</a:t>
            </a:r>
            <a:r>
              <a:rPr lang="en-US" sz="1900"/>
              <a:t> de serre </a:t>
            </a:r>
            <a:r>
              <a:rPr lang="en-US" sz="1900" err="1"/>
              <a:t>produites</a:t>
            </a:r>
            <a:r>
              <a:rPr lang="en-US" sz="1900"/>
              <a:t>, </a:t>
            </a:r>
            <a:r>
              <a:rPr lang="en-US" sz="1900" err="1"/>
              <a:t>exprimées</a:t>
            </a:r>
            <a:r>
              <a:rPr lang="en-US" sz="1900"/>
              <a:t> </a:t>
            </a:r>
            <a:r>
              <a:rPr lang="en-US" sz="1900" err="1"/>
              <a:t>en</a:t>
            </a:r>
            <a:r>
              <a:rPr lang="en-US" sz="1900"/>
              <a:t> </a:t>
            </a:r>
            <a:r>
              <a:rPr lang="en-US" sz="1900" err="1"/>
              <a:t>kilogrammes</a:t>
            </a:r>
            <a:r>
              <a:rPr lang="en-US" sz="1900"/>
              <a:t> de CO₂ </a:t>
            </a:r>
            <a:r>
              <a:rPr lang="en-US" sz="1900" err="1"/>
              <a:t>équivalent</a:t>
            </a:r>
            <a:r>
              <a:rPr lang="en-US" sz="1900"/>
              <a:t>. Une </a:t>
            </a:r>
            <a:r>
              <a:rPr lang="en-US" sz="1900" err="1"/>
              <a:t>fois</a:t>
            </a:r>
            <a:r>
              <a:rPr lang="en-US" sz="1900"/>
              <a:t> </a:t>
            </a:r>
            <a:r>
              <a:rPr lang="en-US" sz="1900" err="1"/>
              <a:t>l'entraînement</a:t>
            </a:r>
            <a:r>
              <a:rPr lang="en-US" sz="1900"/>
              <a:t> </a:t>
            </a:r>
            <a:r>
              <a:rPr lang="en-US" sz="1900" err="1"/>
              <a:t>terminé</a:t>
            </a:r>
            <a:r>
              <a:rPr lang="en-US" sz="1900"/>
              <a:t>, le </a:t>
            </a:r>
            <a:r>
              <a:rPr lang="en-US" sz="1900" err="1"/>
              <a:t>bilan</a:t>
            </a:r>
            <a:r>
              <a:rPr lang="en-US" sz="1900"/>
              <a:t> </a:t>
            </a:r>
            <a:r>
              <a:rPr lang="en-US" sz="1900" err="1"/>
              <a:t>carbone</a:t>
            </a:r>
            <a:r>
              <a:rPr lang="en-US" sz="1900"/>
              <a:t> total </a:t>
            </a:r>
            <a:r>
              <a:rPr lang="en-US" sz="1900" err="1"/>
              <a:t>est</a:t>
            </a:r>
            <a:r>
              <a:rPr lang="en-US" sz="1900"/>
              <a:t> </a:t>
            </a:r>
            <a:r>
              <a:rPr lang="en-US" sz="1900" err="1"/>
              <a:t>affiché</a:t>
            </a:r>
            <a:r>
              <a:rPr lang="en-US" sz="1900"/>
              <a:t>, </a:t>
            </a:r>
            <a:r>
              <a:rPr lang="en-US" sz="1900" err="1"/>
              <a:t>offrant</a:t>
            </a:r>
            <a:r>
              <a:rPr lang="en-US" sz="1900"/>
              <a:t> </a:t>
            </a:r>
            <a:r>
              <a:rPr lang="en-US" sz="1900" err="1"/>
              <a:t>ainsi</a:t>
            </a:r>
            <a:r>
              <a:rPr lang="en-US" sz="1900"/>
              <a:t> </a:t>
            </a:r>
            <a:r>
              <a:rPr lang="en-US" sz="1900" err="1"/>
              <a:t>une</a:t>
            </a:r>
            <a:r>
              <a:rPr lang="en-US" sz="1900"/>
              <a:t> vision concrète du </a:t>
            </a:r>
            <a:r>
              <a:rPr lang="en-US" sz="1900" err="1"/>
              <a:t>coût</a:t>
            </a:r>
            <a:r>
              <a:rPr lang="en-US" sz="1900"/>
              <a:t> </a:t>
            </a:r>
            <a:r>
              <a:rPr lang="en-US" sz="1900" err="1"/>
              <a:t>écologique</a:t>
            </a:r>
            <a:r>
              <a:rPr lang="en-US" sz="1900"/>
              <a:t> </a:t>
            </a:r>
            <a:r>
              <a:rPr lang="en-US" sz="1900" err="1"/>
              <a:t>associé</a:t>
            </a:r>
            <a:r>
              <a:rPr lang="en-US" sz="1900"/>
              <a:t> au </a:t>
            </a:r>
            <a:r>
              <a:rPr lang="en-US" sz="1900" err="1"/>
              <a:t>développement</a:t>
            </a:r>
            <a:r>
              <a:rPr lang="en-US" sz="1900"/>
              <a:t> du </a:t>
            </a:r>
            <a:r>
              <a:rPr lang="en-US" sz="1900" err="1"/>
              <a:t>modèle</a:t>
            </a:r>
            <a:r>
              <a:rPr lang="en-US" sz="1900"/>
              <a:t>.</a:t>
            </a:r>
          </a:p>
        </p:txBody>
      </p:sp>
      <p:sp>
        <p:nvSpPr>
          <p:cNvPr id="18" name="Rectangle 17">
            <a:extLst>
              <a:ext uri="{FF2B5EF4-FFF2-40B4-BE49-F238E27FC236}">
                <a16:creationId xmlns:a16="http://schemas.microsoft.com/office/drawing/2014/main" id="{5A55FBCD-CD42-40F5-8A1B-3203F9CAEE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636705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53BF046-8101-4278-21E2-8087EB47504B}"/>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6247DDBF-A4DF-0201-2D35-D81B6DA87D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5F66951E-F796-405B-5678-95AFEDC9A48C}"/>
              </a:ext>
            </a:extLst>
          </p:cNvPr>
          <p:cNvSpPr>
            <a:spLocks noGrp="1"/>
          </p:cNvSpPr>
          <p:nvPr>
            <p:ph type="title"/>
          </p:nvPr>
        </p:nvSpPr>
        <p:spPr>
          <a:xfrm>
            <a:off x="795528" y="386930"/>
            <a:ext cx="10141799" cy="1300554"/>
          </a:xfrm>
        </p:spPr>
        <p:txBody>
          <a:bodyPr vert="horz" lIns="91440" tIns="45720" rIns="91440" bIns="45720" rtlCol="0" anchor="b">
            <a:normAutofit/>
          </a:bodyPr>
          <a:lstStyle/>
          <a:p>
            <a:r>
              <a:rPr lang="fr-CA" sz="4800"/>
              <a:t>Model </a:t>
            </a:r>
            <a:r>
              <a:rPr lang="fr-CA" sz="4800" err="1"/>
              <a:t>Evaluation</a:t>
            </a:r>
            <a:endParaRPr lang="en-US" sz="4800" kern="1200">
              <a:solidFill>
                <a:schemeClr val="tx1"/>
              </a:solidFill>
              <a:latin typeface="+mj-lt"/>
              <a:ea typeface="+mj-ea"/>
              <a:cs typeface="+mj-cs"/>
            </a:endParaRPr>
          </a:p>
        </p:txBody>
      </p:sp>
      <p:sp>
        <p:nvSpPr>
          <p:cNvPr id="14" name="Rectangle 13">
            <a:extLst>
              <a:ext uri="{FF2B5EF4-FFF2-40B4-BE49-F238E27FC236}">
                <a16:creationId xmlns:a16="http://schemas.microsoft.com/office/drawing/2014/main" id="{468083A5-E970-585D-43FF-9BA824E2DA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B6D774C-D674-F38E-B2BE-96221B6D05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ZoneTexte 6">
            <a:extLst>
              <a:ext uri="{FF2B5EF4-FFF2-40B4-BE49-F238E27FC236}">
                <a16:creationId xmlns:a16="http://schemas.microsoft.com/office/drawing/2014/main" id="{2AA0C9CD-9E7E-5B85-4198-82DDAFB6BC8A}"/>
              </a:ext>
            </a:extLst>
          </p:cNvPr>
          <p:cNvSpPr txBox="1"/>
          <p:nvPr/>
        </p:nvSpPr>
        <p:spPr>
          <a:xfrm>
            <a:off x="496919" y="2517349"/>
            <a:ext cx="4530898" cy="3639450"/>
          </a:xfrm>
          <a:prstGeom prst="rect">
            <a:avLst/>
          </a:prstGeom>
        </p:spPr>
        <p:txBody>
          <a:bodyPr vert="horz" lIns="91440" tIns="45720" rIns="91440" bIns="45720" rtlCol="0" anchor="ctr">
            <a:normAutofit/>
          </a:bodyPr>
          <a:lstStyle/>
          <a:p>
            <a:pPr>
              <a:lnSpc>
                <a:spcPct val="90000"/>
              </a:lnSpc>
              <a:spcAft>
                <a:spcPts val="600"/>
              </a:spcAft>
            </a:pPr>
            <a:endParaRPr lang="en-US" sz="1900"/>
          </a:p>
        </p:txBody>
      </p:sp>
      <p:sp>
        <p:nvSpPr>
          <p:cNvPr id="18" name="Rectangle 17">
            <a:extLst>
              <a:ext uri="{FF2B5EF4-FFF2-40B4-BE49-F238E27FC236}">
                <a16:creationId xmlns:a16="http://schemas.microsoft.com/office/drawing/2014/main" id="{3BB19C9D-8278-950C-49FF-EEBFF08EC0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Espace réservé du contenu 4">
            <a:extLst>
              <a:ext uri="{FF2B5EF4-FFF2-40B4-BE49-F238E27FC236}">
                <a16:creationId xmlns:a16="http://schemas.microsoft.com/office/drawing/2014/main" id="{F9360CCC-DCEB-E0C5-AE74-D93A0E6398D5}"/>
              </a:ext>
            </a:extLst>
          </p:cNvPr>
          <p:cNvPicPr>
            <a:picLocks noChangeAspect="1"/>
          </p:cNvPicPr>
          <p:nvPr/>
        </p:nvPicPr>
        <p:blipFill>
          <a:blip r:embed="rId2"/>
          <a:stretch>
            <a:fillRect/>
          </a:stretch>
        </p:blipFill>
        <p:spPr>
          <a:xfrm>
            <a:off x="538542" y="3091905"/>
            <a:ext cx="4447651" cy="1755749"/>
          </a:xfrm>
          <a:prstGeom prst="rect">
            <a:avLst/>
          </a:prstGeom>
        </p:spPr>
      </p:pic>
      <p:pic>
        <p:nvPicPr>
          <p:cNvPr id="9" name="Espace réservé du contenu 4">
            <a:extLst>
              <a:ext uri="{FF2B5EF4-FFF2-40B4-BE49-F238E27FC236}">
                <a16:creationId xmlns:a16="http://schemas.microsoft.com/office/drawing/2014/main" id="{B86B0501-A28F-1F85-A86B-CC36FD822062}"/>
              </a:ext>
            </a:extLst>
          </p:cNvPr>
          <p:cNvPicPr>
            <a:picLocks noGrp="1" noChangeAspect="1"/>
          </p:cNvPicPr>
          <p:nvPr>
            <p:ph idx="1"/>
          </p:nvPr>
        </p:nvPicPr>
        <p:blipFill>
          <a:blip r:embed="rId3"/>
          <a:stretch>
            <a:fillRect/>
          </a:stretch>
        </p:blipFill>
        <p:spPr>
          <a:xfrm>
            <a:off x="5177668" y="2389218"/>
            <a:ext cx="6055842" cy="3146322"/>
          </a:xfrm>
          <a:prstGeom prst="rect">
            <a:avLst/>
          </a:prstGeom>
        </p:spPr>
      </p:pic>
    </p:spTree>
    <p:extLst>
      <p:ext uri="{BB962C8B-B14F-4D97-AF65-F5344CB8AC3E}">
        <p14:creationId xmlns:p14="http://schemas.microsoft.com/office/powerpoint/2010/main" val="5680945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22F19F4-FE70-43DC-856F-2CE5F521DC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20" name="Rectangle 19">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Rectangle 23">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59078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8CD622AE-DACE-1EC2-E1B6-175F1E9182A5}"/>
              </a:ext>
            </a:extLst>
          </p:cNvPr>
          <p:cNvSpPr>
            <a:spLocks noGrp="1"/>
          </p:cNvSpPr>
          <p:nvPr>
            <p:ph type="title"/>
          </p:nvPr>
        </p:nvSpPr>
        <p:spPr>
          <a:xfrm>
            <a:off x="1043631" y="873940"/>
            <a:ext cx="4928291" cy="1035781"/>
          </a:xfrm>
        </p:spPr>
        <p:txBody>
          <a:bodyPr vert="horz" lIns="91440" tIns="45720" rIns="91440" bIns="45720" rtlCol="0" anchor="ctr">
            <a:normAutofit/>
          </a:bodyPr>
          <a:lstStyle/>
          <a:p>
            <a:r>
              <a:rPr lang="en-US" sz="3600"/>
              <a:t>Model Evaluation</a:t>
            </a:r>
          </a:p>
        </p:txBody>
      </p:sp>
      <p:sp>
        <p:nvSpPr>
          <p:cNvPr id="12" name="ZoneTexte 11">
            <a:extLst>
              <a:ext uri="{FF2B5EF4-FFF2-40B4-BE49-F238E27FC236}">
                <a16:creationId xmlns:a16="http://schemas.microsoft.com/office/drawing/2014/main" id="{680AB68A-5843-8A67-E3AD-694B848756A0}"/>
              </a:ext>
            </a:extLst>
          </p:cNvPr>
          <p:cNvSpPr txBox="1"/>
          <p:nvPr/>
        </p:nvSpPr>
        <p:spPr>
          <a:xfrm>
            <a:off x="1045029" y="2524721"/>
            <a:ext cx="4991629" cy="3677123"/>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a:t>Le </a:t>
            </a:r>
            <a:r>
              <a:rPr lang="en-US" err="1"/>
              <a:t>modèle</a:t>
            </a:r>
            <a:r>
              <a:rPr lang="en-US"/>
              <a:t> affiche des performances </a:t>
            </a:r>
            <a:r>
              <a:rPr lang="en-US" err="1"/>
              <a:t>solides</a:t>
            </a:r>
            <a:r>
              <a:rPr lang="en-US"/>
              <a:t> et </a:t>
            </a:r>
            <a:r>
              <a:rPr lang="en-US" err="1"/>
              <a:t>équilibrées</a:t>
            </a:r>
            <a:r>
              <a:rPr lang="en-US"/>
              <a:t> sur un jeu de test de 25 000 </a:t>
            </a:r>
            <a:r>
              <a:rPr lang="en-US" err="1"/>
              <a:t>exemples</a:t>
            </a:r>
            <a:r>
              <a:rPr lang="en-US"/>
              <a:t>. </a:t>
            </a:r>
            <a:r>
              <a:rPr lang="en-US" err="1"/>
              <a:t>L'écart</a:t>
            </a:r>
            <a:r>
              <a:rPr lang="en-US"/>
              <a:t> entre les deux classes </a:t>
            </a:r>
            <a:r>
              <a:rPr lang="en-US" err="1"/>
              <a:t>reste</a:t>
            </a:r>
            <a:r>
              <a:rPr lang="en-US"/>
              <a:t> </a:t>
            </a:r>
            <a:r>
              <a:rPr lang="en-US" err="1"/>
              <a:t>minime</a:t>
            </a:r>
            <a:r>
              <a:rPr lang="en-US"/>
              <a:t>, </a:t>
            </a:r>
            <a:r>
              <a:rPr lang="en-US" err="1"/>
              <a:t>ce</a:t>
            </a:r>
            <a:r>
              <a:rPr lang="en-US"/>
              <a:t> qui </a:t>
            </a:r>
            <a:r>
              <a:rPr lang="en-US" err="1"/>
              <a:t>indique</a:t>
            </a:r>
            <a:r>
              <a:rPr lang="en-US"/>
              <a:t> </a:t>
            </a:r>
            <a:r>
              <a:rPr lang="en-US" err="1"/>
              <a:t>une</a:t>
            </a:r>
            <a:r>
              <a:rPr lang="en-US"/>
              <a:t> bonne </a:t>
            </a:r>
            <a:r>
              <a:rPr lang="en-US" err="1"/>
              <a:t>généralisation</a:t>
            </a:r>
            <a:r>
              <a:rPr lang="en-US"/>
              <a:t>. La </a:t>
            </a:r>
            <a:r>
              <a:rPr lang="en-US" err="1"/>
              <a:t>principale</a:t>
            </a:r>
            <a:r>
              <a:rPr lang="en-US"/>
              <a:t> faiblesse </a:t>
            </a:r>
            <a:r>
              <a:rPr lang="en-US" err="1"/>
              <a:t>réside</a:t>
            </a:r>
            <a:r>
              <a:rPr lang="en-US"/>
              <a:t> dans la </a:t>
            </a:r>
            <a:r>
              <a:rPr lang="en-US" err="1"/>
              <a:t>détection</a:t>
            </a:r>
            <a:r>
              <a:rPr lang="en-US"/>
              <a:t> des </a:t>
            </a:r>
            <a:r>
              <a:rPr lang="en-US" err="1"/>
              <a:t>avis</a:t>
            </a:r>
            <a:r>
              <a:rPr lang="en-US"/>
              <a:t> </a:t>
            </a:r>
            <a:r>
              <a:rPr lang="en-US" err="1"/>
              <a:t>positifs</a:t>
            </a:r>
            <a:r>
              <a:rPr lang="en-US"/>
              <a:t>, avec un </a:t>
            </a:r>
            <a:r>
              <a:rPr lang="en-US" err="1"/>
              <a:t>taux</a:t>
            </a:r>
            <a:r>
              <a:rPr lang="en-US"/>
              <a:t> de faux </a:t>
            </a:r>
            <a:r>
              <a:rPr lang="en-US" err="1"/>
              <a:t>négatifs</a:t>
            </a:r>
            <a:r>
              <a:rPr lang="en-US"/>
              <a:t> </a:t>
            </a:r>
            <a:r>
              <a:rPr lang="en-US" err="1"/>
              <a:t>légèrement</a:t>
            </a:r>
            <a:r>
              <a:rPr lang="en-US"/>
              <a:t> plus </a:t>
            </a:r>
            <a:r>
              <a:rPr lang="en-US" err="1"/>
              <a:t>élevé</a:t>
            </a:r>
            <a:r>
              <a:rPr lang="en-US"/>
              <a:t> (2 189 vs 1 327), </a:t>
            </a:r>
            <a:r>
              <a:rPr lang="en-US" err="1"/>
              <a:t>suggérant</a:t>
            </a:r>
            <a:r>
              <a:rPr lang="en-US"/>
              <a:t> que </a:t>
            </a:r>
            <a:r>
              <a:rPr lang="en-US" err="1"/>
              <a:t>certains</a:t>
            </a:r>
            <a:r>
              <a:rPr lang="en-US"/>
              <a:t> </a:t>
            </a:r>
            <a:r>
              <a:rPr lang="en-US" err="1"/>
              <a:t>avis</a:t>
            </a:r>
            <a:r>
              <a:rPr lang="en-US"/>
              <a:t> </a:t>
            </a:r>
            <a:r>
              <a:rPr lang="en-US" err="1"/>
              <a:t>positifs</a:t>
            </a:r>
            <a:r>
              <a:rPr lang="en-US"/>
              <a:t> </a:t>
            </a:r>
            <a:r>
              <a:rPr lang="en-US" err="1"/>
              <a:t>contiennent</a:t>
            </a:r>
            <a:r>
              <a:rPr lang="en-US"/>
              <a:t> des tournures </a:t>
            </a:r>
            <a:r>
              <a:rPr lang="en-US" err="1"/>
              <a:t>ambiguës</a:t>
            </a:r>
            <a:r>
              <a:rPr lang="en-US"/>
              <a:t> </a:t>
            </a:r>
            <a:r>
              <a:rPr lang="en-US" err="1"/>
              <a:t>ou</a:t>
            </a:r>
            <a:r>
              <a:rPr lang="en-US"/>
              <a:t> </a:t>
            </a:r>
            <a:r>
              <a:rPr lang="en-US" err="1"/>
              <a:t>nuancées</a:t>
            </a:r>
            <a:r>
              <a:rPr lang="en-US"/>
              <a:t> que le </a:t>
            </a:r>
            <a:r>
              <a:rPr lang="en-US" err="1"/>
              <a:t>modèle</a:t>
            </a:r>
            <a:r>
              <a:rPr lang="en-US"/>
              <a:t> </a:t>
            </a:r>
            <a:r>
              <a:rPr lang="en-US" err="1"/>
              <a:t>interprète</a:t>
            </a:r>
            <a:r>
              <a:rPr lang="en-US"/>
              <a:t> à tort </a:t>
            </a:r>
            <a:r>
              <a:rPr lang="en-US" err="1"/>
              <a:t>comme</a:t>
            </a:r>
            <a:r>
              <a:rPr lang="en-US"/>
              <a:t> </a:t>
            </a:r>
            <a:r>
              <a:rPr lang="en-US" err="1"/>
              <a:t>négatifs</a:t>
            </a:r>
            <a:r>
              <a:rPr lang="en-US"/>
              <a:t>.</a:t>
            </a:r>
          </a:p>
        </p:txBody>
      </p:sp>
      <p:sp>
        <p:nvSpPr>
          <p:cNvPr id="26" name="Rectangle 25">
            <a:extLst>
              <a:ext uri="{FF2B5EF4-FFF2-40B4-BE49-F238E27FC236}">
                <a16:creationId xmlns:a16="http://schemas.microsoft.com/office/drawing/2014/main" id="{395ECC94-3D5E-46A7-A7A1-DE807E1563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658367"/>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 6">
            <a:extLst>
              <a:ext uri="{FF2B5EF4-FFF2-40B4-BE49-F238E27FC236}">
                <a16:creationId xmlns:a16="http://schemas.microsoft.com/office/drawing/2014/main" id="{D3EDD7F3-5552-D0A0-5F76-95E7927E54DE}"/>
              </a:ext>
            </a:extLst>
          </p:cNvPr>
          <p:cNvPicPr>
            <a:picLocks noChangeAspect="1"/>
          </p:cNvPicPr>
          <p:nvPr/>
        </p:nvPicPr>
        <p:blipFill>
          <a:blip r:embed="rId2"/>
          <a:srcRect r="14251"/>
          <a:stretch>
            <a:fillRect/>
          </a:stretch>
        </p:blipFill>
        <p:spPr>
          <a:xfrm>
            <a:off x="7651480" y="841905"/>
            <a:ext cx="2685076" cy="2317178"/>
          </a:xfrm>
          <a:prstGeom prst="rect">
            <a:avLst/>
          </a:prstGeom>
        </p:spPr>
      </p:pic>
      <p:sp>
        <p:nvSpPr>
          <p:cNvPr id="28" name="Rectangle 27">
            <a:extLst>
              <a:ext uri="{FF2B5EF4-FFF2-40B4-BE49-F238E27FC236}">
                <a16:creationId xmlns:a16="http://schemas.microsoft.com/office/drawing/2014/main" id="{7E549738-9961-462D-81B7-4A7A446911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3530966"/>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Espace réservé du contenu 4">
            <a:extLst>
              <a:ext uri="{FF2B5EF4-FFF2-40B4-BE49-F238E27FC236}">
                <a16:creationId xmlns:a16="http://schemas.microsoft.com/office/drawing/2014/main" id="{69DAC080-9C16-88CA-6724-A28E63062853}"/>
              </a:ext>
            </a:extLst>
          </p:cNvPr>
          <p:cNvPicPr>
            <a:picLocks noGrp="1" noChangeAspect="1"/>
          </p:cNvPicPr>
          <p:nvPr>
            <p:ph idx="1"/>
          </p:nvPr>
        </p:nvPicPr>
        <p:blipFill>
          <a:blip r:embed="rId3"/>
          <a:srcRect l="8966" t="8381" r="25512"/>
          <a:stretch>
            <a:fillRect/>
          </a:stretch>
        </p:blipFill>
        <p:spPr>
          <a:xfrm>
            <a:off x="6841066" y="3816112"/>
            <a:ext cx="4305905" cy="2092271"/>
          </a:xfrm>
          <a:prstGeom prst="rect">
            <a:avLst/>
          </a:prstGeom>
        </p:spPr>
      </p:pic>
      <p:cxnSp>
        <p:nvCxnSpPr>
          <p:cNvPr id="30" name="Straight Connector 29">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07972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922F19F4-FE70-43DC-856F-2CE5F521DC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17" name="Rectangle 16">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 name="Rectangle 20">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59078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694A5962-0F04-32CF-7789-7431FC4FEAC2}"/>
              </a:ext>
            </a:extLst>
          </p:cNvPr>
          <p:cNvSpPr>
            <a:spLocks noGrp="1"/>
          </p:cNvSpPr>
          <p:nvPr>
            <p:ph type="title"/>
          </p:nvPr>
        </p:nvSpPr>
        <p:spPr>
          <a:xfrm>
            <a:off x="1043631" y="873940"/>
            <a:ext cx="4928291" cy="1035781"/>
          </a:xfrm>
        </p:spPr>
        <p:txBody>
          <a:bodyPr anchor="ctr">
            <a:normAutofit/>
          </a:bodyPr>
          <a:lstStyle/>
          <a:p>
            <a:r>
              <a:rPr lang="fr-CA" sz="3600"/>
              <a:t>Model Evaluation</a:t>
            </a:r>
          </a:p>
        </p:txBody>
      </p:sp>
      <p:sp>
        <p:nvSpPr>
          <p:cNvPr id="11" name="Content Placeholder 10">
            <a:extLst>
              <a:ext uri="{FF2B5EF4-FFF2-40B4-BE49-F238E27FC236}">
                <a16:creationId xmlns:a16="http://schemas.microsoft.com/office/drawing/2014/main" id="{C42E37F6-96D8-F4A7-E4A2-719523193B67}"/>
              </a:ext>
            </a:extLst>
          </p:cNvPr>
          <p:cNvSpPr>
            <a:spLocks noGrp="1"/>
          </p:cNvSpPr>
          <p:nvPr>
            <p:ph idx="1"/>
          </p:nvPr>
        </p:nvSpPr>
        <p:spPr>
          <a:xfrm>
            <a:off x="1045029" y="2524721"/>
            <a:ext cx="4991629" cy="3677123"/>
          </a:xfrm>
        </p:spPr>
        <p:txBody>
          <a:bodyPr anchor="ctr">
            <a:normAutofit/>
          </a:bodyPr>
          <a:lstStyle/>
          <a:p>
            <a:r>
              <a:rPr lang="fr-FR" sz="1800"/>
              <a:t>La fonction </a:t>
            </a:r>
            <a:r>
              <a:rPr lang="fr-FR" sz="1800" err="1"/>
              <a:t>predict_sentiment</a:t>
            </a:r>
            <a:r>
              <a:rPr lang="fr-FR" sz="1800"/>
              <a:t> met en œuvre un pipeline complet allant du prétraitement jusqu'à l'affichage des résultats : chaque texte est d'abord nettoyé, puis converti en séquence numérique et uniformisé par </a:t>
            </a:r>
            <a:r>
              <a:rPr lang="fr-FR" sz="1800" err="1"/>
              <a:t>padding</a:t>
            </a:r>
            <a:r>
              <a:rPr lang="fr-FR" sz="1800"/>
              <a:t> avant d'être soumis au modèle. Un seuil de classification fixé à </a:t>
            </a:r>
            <a:r>
              <a:rPr lang="fr-FR" sz="1800" b="1"/>
              <a:t>0.6</a:t>
            </a:r>
            <a:r>
              <a:rPr lang="fr-FR" sz="1800"/>
              <a:t> — plutôt que la valeur standard de 0.5 — a été délibérément choisi pour limiter les faux positifs, exigeant ainsi une plus grande confiance du modèle avant d'attribuer un sentiment positif. Le score de confiance est ensuite normalisé entre 0.5 et 1 pour en faciliter la lecture, </a:t>
            </a:r>
            <a:endParaRPr lang="en-US" sz="1800"/>
          </a:p>
        </p:txBody>
      </p:sp>
      <p:sp>
        <p:nvSpPr>
          <p:cNvPr id="23" name="Rectangle 22">
            <a:extLst>
              <a:ext uri="{FF2B5EF4-FFF2-40B4-BE49-F238E27FC236}">
                <a16:creationId xmlns:a16="http://schemas.microsoft.com/office/drawing/2014/main" id="{395ECC94-3D5E-46A7-A7A1-DE807E1563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658367"/>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Espace réservé du contenu 4">
            <a:extLst>
              <a:ext uri="{FF2B5EF4-FFF2-40B4-BE49-F238E27FC236}">
                <a16:creationId xmlns:a16="http://schemas.microsoft.com/office/drawing/2014/main" id="{C7481B65-6AAF-71C8-9BF0-13ECB50D1CC3}"/>
              </a:ext>
            </a:extLst>
          </p:cNvPr>
          <p:cNvPicPr>
            <a:picLocks noChangeAspect="1"/>
          </p:cNvPicPr>
          <p:nvPr/>
        </p:nvPicPr>
        <p:blipFill>
          <a:blip r:embed="rId2"/>
          <a:stretch>
            <a:fillRect/>
          </a:stretch>
        </p:blipFill>
        <p:spPr>
          <a:xfrm>
            <a:off x="7379260" y="841905"/>
            <a:ext cx="3229516" cy="2317178"/>
          </a:xfrm>
          <a:prstGeom prst="rect">
            <a:avLst/>
          </a:prstGeom>
        </p:spPr>
      </p:pic>
      <p:sp>
        <p:nvSpPr>
          <p:cNvPr id="25" name="Rectangle 24">
            <a:extLst>
              <a:ext uri="{FF2B5EF4-FFF2-40B4-BE49-F238E27FC236}">
                <a16:creationId xmlns:a16="http://schemas.microsoft.com/office/drawing/2014/main" id="{7E549738-9961-462D-81B7-4A7A446911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3530966"/>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 6">
            <a:extLst>
              <a:ext uri="{FF2B5EF4-FFF2-40B4-BE49-F238E27FC236}">
                <a16:creationId xmlns:a16="http://schemas.microsoft.com/office/drawing/2014/main" id="{80DCDFD3-8EBB-F3F1-970E-969E43579C0B}"/>
              </a:ext>
            </a:extLst>
          </p:cNvPr>
          <p:cNvPicPr>
            <a:picLocks noChangeAspect="1"/>
          </p:cNvPicPr>
          <p:nvPr/>
        </p:nvPicPr>
        <p:blipFill>
          <a:blip r:embed="rId3"/>
          <a:stretch>
            <a:fillRect/>
          </a:stretch>
        </p:blipFill>
        <p:spPr>
          <a:xfrm>
            <a:off x="7258305" y="3703659"/>
            <a:ext cx="3471427" cy="2317178"/>
          </a:xfrm>
          <a:prstGeom prst="rect">
            <a:avLst/>
          </a:prstGeom>
        </p:spPr>
      </p:pic>
      <p:cxnSp>
        <p:nvCxnSpPr>
          <p:cNvPr id="27" name="Straight Connector 2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37248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1837F025-0982-F512-A1DD-56298C8F5730}"/>
              </a:ext>
            </a:extLst>
          </p:cNvPr>
          <p:cNvSpPr>
            <a:spLocks noGrp="1"/>
          </p:cNvSpPr>
          <p:nvPr>
            <p:ph type="title"/>
          </p:nvPr>
        </p:nvSpPr>
        <p:spPr>
          <a:xfrm>
            <a:off x="793662" y="386930"/>
            <a:ext cx="10066122" cy="1298448"/>
          </a:xfrm>
        </p:spPr>
        <p:txBody>
          <a:bodyPr anchor="b">
            <a:normAutofit/>
          </a:bodyPr>
          <a:lstStyle/>
          <a:p>
            <a:r>
              <a:rPr lang="fr-CA" sz="4800"/>
              <a:t>Model Evaluation</a:t>
            </a:r>
          </a:p>
        </p:txBody>
      </p:sp>
      <p:sp>
        <p:nvSpPr>
          <p:cNvPr id="15" name="Rectangle 14">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Espace réservé du contenu 6">
            <a:extLst>
              <a:ext uri="{FF2B5EF4-FFF2-40B4-BE49-F238E27FC236}">
                <a16:creationId xmlns:a16="http://schemas.microsoft.com/office/drawing/2014/main" id="{EEACECD7-DDF9-AD0F-A146-438FFD239670}"/>
              </a:ext>
            </a:extLst>
          </p:cNvPr>
          <p:cNvSpPr>
            <a:spLocks noGrp="1"/>
          </p:cNvSpPr>
          <p:nvPr>
            <p:ph idx="1"/>
          </p:nvPr>
        </p:nvSpPr>
        <p:spPr>
          <a:xfrm>
            <a:off x="793661" y="2599509"/>
            <a:ext cx="4530898" cy="3639450"/>
          </a:xfrm>
        </p:spPr>
        <p:txBody>
          <a:bodyPr anchor="ctr">
            <a:normAutofit/>
          </a:bodyPr>
          <a:lstStyle/>
          <a:p>
            <a:r>
              <a:rPr lang="fr-FR" sz="2000"/>
              <a:t>Afin de valider son comportement sur des cas concrets, le modèle est évalué sur un ensemble de critiques fictives. Chaque texte subit un prétraitement — nettoyage et conversion — avant d'être soumis au modèle pour analyse. Le résultat obtenu indique le sentiment prédit (positif ou négatif), accompagné d'un emoji et d'un score de confiance afin de rendre l'interprétation plus intuitive.</a:t>
            </a:r>
            <a:endParaRPr lang="fr-CA" sz="2000"/>
          </a:p>
          <a:p>
            <a:endParaRPr lang="fr-CA" sz="2000"/>
          </a:p>
        </p:txBody>
      </p:sp>
      <p:pic>
        <p:nvPicPr>
          <p:cNvPr id="8" name="Espace réservé du contenu 4">
            <a:extLst>
              <a:ext uri="{FF2B5EF4-FFF2-40B4-BE49-F238E27FC236}">
                <a16:creationId xmlns:a16="http://schemas.microsoft.com/office/drawing/2014/main" id="{B5DBDEFD-E278-040E-C547-CBF1454C532A}"/>
              </a:ext>
            </a:extLst>
          </p:cNvPr>
          <p:cNvPicPr>
            <a:picLocks noChangeAspect="1"/>
          </p:cNvPicPr>
          <p:nvPr/>
        </p:nvPicPr>
        <p:blipFill>
          <a:blip r:embed="rId2"/>
          <a:stretch>
            <a:fillRect/>
          </a:stretch>
        </p:blipFill>
        <p:spPr>
          <a:xfrm>
            <a:off x="5911532" y="3047370"/>
            <a:ext cx="5150277" cy="2588013"/>
          </a:xfrm>
          <a:prstGeom prst="rect">
            <a:avLst/>
          </a:prstGeom>
        </p:spPr>
      </p:pic>
      <p:sp>
        <p:nvSpPr>
          <p:cNvPr id="19" name="Rectangle 18">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084669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FD91182-1D38-EBC7-16E5-05F2676D4079}"/>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A3D8F082-691B-AAA6-2D7A-544BC4CEB8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CB3CB5E2-5CA8-F24C-9CAE-599411C9961C}"/>
              </a:ext>
            </a:extLst>
          </p:cNvPr>
          <p:cNvSpPr>
            <a:spLocks noGrp="1"/>
          </p:cNvSpPr>
          <p:nvPr>
            <p:ph type="title"/>
          </p:nvPr>
        </p:nvSpPr>
        <p:spPr>
          <a:xfrm>
            <a:off x="793662" y="386930"/>
            <a:ext cx="10066122" cy="1298448"/>
          </a:xfrm>
        </p:spPr>
        <p:txBody>
          <a:bodyPr anchor="b">
            <a:normAutofit/>
          </a:bodyPr>
          <a:lstStyle/>
          <a:p>
            <a:r>
              <a:rPr lang="fr-CA" sz="4800" err="1"/>
              <a:t>Explainability</a:t>
            </a:r>
            <a:r>
              <a:rPr lang="fr-CA" sz="4800"/>
              <a:t> </a:t>
            </a:r>
            <a:r>
              <a:rPr lang="fr-CA" sz="4800" err="1"/>
              <a:t>with</a:t>
            </a:r>
            <a:r>
              <a:rPr lang="fr-CA" sz="4800"/>
              <a:t> SHAP and LIME</a:t>
            </a:r>
          </a:p>
        </p:txBody>
      </p:sp>
      <p:sp>
        <p:nvSpPr>
          <p:cNvPr id="15" name="Rectangle 14">
            <a:extLst>
              <a:ext uri="{FF2B5EF4-FFF2-40B4-BE49-F238E27FC236}">
                <a16:creationId xmlns:a16="http://schemas.microsoft.com/office/drawing/2014/main" id="{3A5FD7E7-00A3-F568-93E0-32553E0FE1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B2B00A5-772F-B999-4847-1186CD2BE2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Espace réservé du contenu 6">
            <a:extLst>
              <a:ext uri="{FF2B5EF4-FFF2-40B4-BE49-F238E27FC236}">
                <a16:creationId xmlns:a16="http://schemas.microsoft.com/office/drawing/2014/main" id="{74C8999A-1908-D0DA-6F17-F4E91960534B}"/>
              </a:ext>
            </a:extLst>
          </p:cNvPr>
          <p:cNvSpPr>
            <a:spLocks noGrp="1"/>
          </p:cNvSpPr>
          <p:nvPr>
            <p:ph idx="1"/>
          </p:nvPr>
        </p:nvSpPr>
        <p:spPr>
          <a:xfrm>
            <a:off x="952167" y="2340077"/>
            <a:ext cx="9638365" cy="557037"/>
          </a:xfrm>
        </p:spPr>
        <p:txBody>
          <a:bodyPr anchor="ctr">
            <a:normAutofit/>
          </a:bodyPr>
          <a:lstStyle/>
          <a:p>
            <a:r>
              <a:rPr lang="fr-CA" sz="2000"/>
              <a:t>On utilise SHAP et LIME pour interpréter les décisions</a:t>
            </a:r>
          </a:p>
          <a:p>
            <a:endParaRPr lang="fr-CA" sz="2000"/>
          </a:p>
        </p:txBody>
      </p:sp>
      <p:sp>
        <p:nvSpPr>
          <p:cNvPr id="19" name="Rectangle 18">
            <a:extLst>
              <a:ext uri="{FF2B5EF4-FFF2-40B4-BE49-F238E27FC236}">
                <a16:creationId xmlns:a16="http://schemas.microsoft.com/office/drawing/2014/main" id="{B366D721-EA1B-9800-CC0E-4740BF275C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2">
            <a:extLst>
              <a:ext uri="{FF2B5EF4-FFF2-40B4-BE49-F238E27FC236}">
                <a16:creationId xmlns:a16="http://schemas.microsoft.com/office/drawing/2014/main" id="{53E7972B-26AF-02F4-2A8E-71B93B88FD92}"/>
              </a:ext>
            </a:extLst>
          </p:cNvPr>
          <p:cNvSpPr txBox="1">
            <a:spLocks/>
          </p:cNvSpPr>
          <p:nvPr/>
        </p:nvSpPr>
        <p:spPr>
          <a:xfrm>
            <a:off x="838200" y="2999231"/>
            <a:ext cx="5181600" cy="31777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CA"/>
              <a:t>Mesure l’importance des mots</a:t>
            </a:r>
          </a:p>
          <a:p>
            <a:r>
              <a:rPr lang="fr-CA"/>
              <a:t>Contribution de chaque mot au modèle</a:t>
            </a:r>
          </a:p>
          <a:p>
            <a:r>
              <a:rPr lang="fr-FR"/>
              <a:t>Caractéristiques valeurs SHAP positives = impact positif sur la prédiction, valeurs négatives = impact négatif</a:t>
            </a:r>
            <a:endParaRPr lang="fr-CA"/>
          </a:p>
          <a:p>
            <a:endParaRPr lang="fr-CA"/>
          </a:p>
        </p:txBody>
      </p:sp>
      <p:sp>
        <p:nvSpPr>
          <p:cNvPr id="5" name="Content Placeholder 3">
            <a:extLst>
              <a:ext uri="{FF2B5EF4-FFF2-40B4-BE49-F238E27FC236}">
                <a16:creationId xmlns:a16="http://schemas.microsoft.com/office/drawing/2014/main" id="{3B25502D-D6FA-C6C7-7069-FFAAF074C20E}"/>
              </a:ext>
            </a:extLst>
          </p:cNvPr>
          <p:cNvSpPr txBox="1">
            <a:spLocks/>
          </p:cNvSpPr>
          <p:nvPr/>
        </p:nvSpPr>
        <p:spPr>
          <a:xfrm>
            <a:off x="6172202" y="2999231"/>
            <a:ext cx="5181600" cy="317773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CA"/>
              <a:t>Explique une prédiction spécifique</a:t>
            </a:r>
          </a:p>
          <a:p>
            <a:r>
              <a:rPr lang="fr-CA"/>
              <a:t>Identifie les mots importants</a:t>
            </a:r>
          </a:p>
          <a:p>
            <a:endParaRPr lang="fr-CA"/>
          </a:p>
        </p:txBody>
      </p:sp>
    </p:spTree>
    <p:extLst>
      <p:ext uri="{BB962C8B-B14F-4D97-AF65-F5344CB8AC3E}">
        <p14:creationId xmlns:p14="http://schemas.microsoft.com/office/powerpoint/2010/main" val="9106530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21C4EA8-6B83-4338-913D-D75D3C4F34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FFD330-DAB0-4BBC-FD10-BF81332F9759}"/>
              </a:ext>
            </a:extLst>
          </p:cNvPr>
          <p:cNvSpPr>
            <a:spLocks noGrp="1"/>
          </p:cNvSpPr>
          <p:nvPr>
            <p:ph type="title"/>
          </p:nvPr>
        </p:nvSpPr>
        <p:spPr>
          <a:xfrm>
            <a:off x="337497" y="679731"/>
            <a:ext cx="3124151" cy="3736540"/>
          </a:xfrm>
        </p:spPr>
        <p:txBody>
          <a:bodyPr vert="horz" lIns="91440" tIns="45720" rIns="91440" bIns="45720" rtlCol="0" anchor="b">
            <a:normAutofit/>
          </a:bodyPr>
          <a:lstStyle/>
          <a:p>
            <a:r>
              <a:rPr lang="en-US" sz="4300"/>
              <a:t>Explainability with SHAP and LIME</a:t>
            </a:r>
          </a:p>
        </p:txBody>
      </p:sp>
      <p:grpSp>
        <p:nvGrpSpPr>
          <p:cNvPr id="11" name="Group 10">
            <a:extLst>
              <a:ext uri="{FF2B5EF4-FFF2-40B4-BE49-F238E27FC236}">
                <a16:creationId xmlns:a16="http://schemas.microsoft.com/office/drawing/2014/main" id="{3AF6A671-C637-4547-85F4-51B6D18813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416432" y="1"/>
            <a:ext cx="2446384" cy="5777808"/>
            <a:chOff x="329184" y="1"/>
            <a:chExt cx="524256" cy="5777808"/>
          </a:xfrm>
        </p:grpSpPr>
        <p:cxnSp>
          <p:nvCxnSpPr>
            <p:cNvPr id="12" name="Straight Connector 11">
              <a:extLst>
                <a:ext uri="{FF2B5EF4-FFF2-40B4-BE49-F238E27FC236}">
                  <a16:creationId xmlns:a16="http://schemas.microsoft.com/office/drawing/2014/main" id="{C575CF26-3D3C-4C5A-A2B7-00432016EF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1208"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1084" y="679731"/>
            <a:ext cx="7682293" cy="56628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2B0150F0-2879-FB95-C145-64AF26F4F4D2}"/>
              </a:ext>
            </a:extLst>
          </p:cNvPr>
          <p:cNvPicPr>
            <a:picLocks noChangeAspect="1"/>
          </p:cNvPicPr>
          <p:nvPr/>
        </p:nvPicPr>
        <p:blipFill>
          <a:blip r:embed="rId3"/>
          <a:srcRect b="37054"/>
          <a:stretch>
            <a:fillRect/>
          </a:stretch>
        </p:blipFill>
        <p:spPr>
          <a:xfrm>
            <a:off x="4125081" y="1611466"/>
            <a:ext cx="3383280" cy="3769273"/>
          </a:xfrm>
          <a:prstGeom prst="rect">
            <a:avLst/>
          </a:prstGeom>
        </p:spPr>
      </p:pic>
      <p:pic>
        <p:nvPicPr>
          <p:cNvPr id="4" name="Picture 3">
            <a:extLst>
              <a:ext uri="{FF2B5EF4-FFF2-40B4-BE49-F238E27FC236}">
                <a16:creationId xmlns:a16="http://schemas.microsoft.com/office/drawing/2014/main" id="{6970DECE-B2AA-EF40-EE1D-0012A48D89BD}"/>
              </a:ext>
            </a:extLst>
          </p:cNvPr>
          <p:cNvPicPr>
            <a:picLocks noChangeAspect="1"/>
          </p:cNvPicPr>
          <p:nvPr/>
        </p:nvPicPr>
        <p:blipFill>
          <a:blip r:embed="rId3"/>
          <a:srcRect t="64238"/>
          <a:stretch>
            <a:fillRect/>
          </a:stretch>
        </p:blipFill>
        <p:spPr>
          <a:xfrm>
            <a:off x="7812357" y="2425369"/>
            <a:ext cx="3383280" cy="2141467"/>
          </a:xfrm>
          <a:prstGeom prst="rect">
            <a:avLst/>
          </a:prstGeom>
        </p:spPr>
      </p:pic>
    </p:spTree>
    <p:extLst>
      <p:ext uri="{BB962C8B-B14F-4D97-AF65-F5344CB8AC3E}">
        <p14:creationId xmlns:p14="http://schemas.microsoft.com/office/powerpoint/2010/main" val="13907846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C497725C-6431-496A-B11C-691354780D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894367-D399-DB0E-CECC-745F02FAD48D}"/>
              </a:ext>
            </a:extLst>
          </p:cNvPr>
          <p:cNvSpPr>
            <a:spLocks noGrp="1"/>
          </p:cNvSpPr>
          <p:nvPr>
            <p:ph type="title"/>
          </p:nvPr>
        </p:nvSpPr>
        <p:spPr>
          <a:xfrm>
            <a:off x="1113810" y="3023754"/>
            <a:ext cx="4900144" cy="2736965"/>
          </a:xfrm>
        </p:spPr>
        <p:txBody>
          <a:bodyPr vert="horz" lIns="91440" tIns="45720" rIns="91440" bIns="45720" rtlCol="0" anchor="t">
            <a:normAutofit/>
          </a:bodyPr>
          <a:lstStyle/>
          <a:p>
            <a:r>
              <a:rPr lang="en-US" sz="5400" kern="1200">
                <a:solidFill>
                  <a:schemeClr val="tx1"/>
                </a:solidFill>
                <a:latin typeface="+mj-lt"/>
                <a:ea typeface="+mj-ea"/>
                <a:cs typeface="+mj-cs"/>
              </a:rPr>
              <a:t>Exemples d’interprétation</a:t>
            </a:r>
          </a:p>
        </p:txBody>
      </p:sp>
      <p:grpSp>
        <p:nvGrpSpPr>
          <p:cNvPr id="23" name="Group 14">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048031"/>
            <a:ext cx="731521" cy="673460"/>
            <a:chOff x="3940602" y="308034"/>
            <a:chExt cx="2116791" cy="3428999"/>
          </a:xfrm>
          <a:solidFill>
            <a:schemeClr val="accent4"/>
          </a:solidFill>
        </p:grpSpPr>
        <p:sp>
          <p:nvSpPr>
            <p:cNvPr id="16" name="Rectangle 15">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Rectangle 19">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B089A89A-1E9C-4761-9DFF-53C275FBF8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0" y="257770"/>
            <a:ext cx="4837176" cy="297996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1AB599A9-ABD4-0F82-D3FC-A66FD9F55410}"/>
              </a:ext>
            </a:extLst>
          </p:cNvPr>
          <p:cNvPicPr>
            <a:picLocks noChangeAspect="1"/>
          </p:cNvPicPr>
          <p:nvPr/>
        </p:nvPicPr>
        <p:blipFill>
          <a:blip r:embed="rId2"/>
          <a:srcRect r="-1" b="3264"/>
          <a:stretch>
            <a:fillRect/>
          </a:stretch>
        </p:blipFill>
        <p:spPr>
          <a:xfrm>
            <a:off x="7114162" y="471748"/>
            <a:ext cx="4324849" cy="2552007"/>
          </a:xfrm>
          <a:prstGeom prst="rect">
            <a:avLst/>
          </a:prstGeom>
        </p:spPr>
      </p:pic>
      <p:sp>
        <p:nvSpPr>
          <p:cNvPr id="24" name="Rectangle 23">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0" y="3462252"/>
            <a:ext cx="4837176" cy="297996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4E1CC183-7294-C086-5DBB-C515B81933FB}"/>
              </a:ext>
            </a:extLst>
          </p:cNvPr>
          <p:cNvPicPr>
            <a:picLocks noChangeAspect="1"/>
          </p:cNvPicPr>
          <p:nvPr/>
        </p:nvPicPr>
        <p:blipFill>
          <a:blip r:embed="rId3"/>
          <a:srcRect l="39228" r="32387" b="1"/>
          <a:stretch>
            <a:fillRect/>
          </a:stretch>
        </p:blipFill>
        <p:spPr>
          <a:xfrm>
            <a:off x="7114162" y="3676230"/>
            <a:ext cx="4324849" cy="2552007"/>
          </a:xfrm>
          <a:prstGeom prst="rect">
            <a:avLst/>
          </a:prstGeom>
        </p:spPr>
      </p:pic>
    </p:spTree>
    <p:extLst>
      <p:ext uri="{BB962C8B-B14F-4D97-AF65-F5344CB8AC3E}">
        <p14:creationId xmlns:p14="http://schemas.microsoft.com/office/powerpoint/2010/main" val="2517765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887987F-6069-C8AB-FACA-64D582E094AF}"/>
              </a:ext>
            </a:extLst>
          </p:cNvPr>
          <p:cNvSpPr>
            <a:spLocks noGrp="1"/>
          </p:cNvSpPr>
          <p:nvPr>
            <p:ph type="title"/>
          </p:nvPr>
        </p:nvSpPr>
        <p:spPr>
          <a:xfrm>
            <a:off x="808638" y="386930"/>
            <a:ext cx="9236700" cy="1188950"/>
          </a:xfrm>
        </p:spPr>
        <p:txBody>
          <a:bodyPr anchor="b">
            <a:normAutofit/>
          </a:bodyPr>
          <a:lstStyle/>
          <a:p>
            <a:r>
              <a:rPr lang="fr-CA" sz="5400" noProof="0"/>
              <a:t>Considérations éthiques</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A7C7137-5445-1F7B-158A-F52220EA3C1A}"/>
              </a:ext>
            </a:extLst>
          </p:cNvPr>
          <p:cNvSpPr>
            <a:spLocks noGrp="1"/>
          </p:cNvSpPr>
          <p:nvPr>
            <p:ph idx="1"/>
          </p:nvPr>
        </p:nvSpPr>
        <p:spPr>
          <a:xfrm>
            <a:off x="793660" y="2599509"/>
            <a:ext cx="10143668" cy="3435531"/>
          </a:xfrm>
        </p:spPr>
        <p:txBody>
          <a:bodyPr anchor="ctr">
            <a:normAutofit/>
          </a:bodyPr>
          <a:lstStyle/>
          <a:p>
            <a:r>
              <a:rPr lang="fr-CA" sz="2400" noProof="0"/>
              <a:t>Transparence : Utilisation de SHAP/LIME pour comprendre et corriger</a:t>
            </a:r>
          </a:p>
          <a:p>
            <a:r>
              <a:rPr lang="fr-CA" sz="2400" noProof="0"/>
              <a:t>Justice : Modèle peut être biaisé si entraine des données non représentatives. Interprétation injuste ou discriminatoire</a:t>
            </a:r>
          </a:p>
          <a:p>
            <a:r>
              <a:rPr lang="fr-CA" sz="2400" noProof="0"/>
              <a:t>Impact vie réel : Peut impliquer l’analyse de données personnelles. </a:t>
            </a:r>
            <a:r>
              <a:rPr lang="fr-CA" sz="2400"/>
              <a:t>Important de protéger les données</a:t>
            </a:r>
            <a:endParaRPr lang="fr-CA" sz="2400" noProof="0"/>
          </a:p>
        </p:txBody>
      </p:sp>
    </p:spTree>
    <p:extLst>
      <p:ext uri="{BB962C8B-B14F-4D97-AF65-F5344CB8AC3E}">
        <p14:creationId xmlns:p14="http://schemas.microsoft.com/office/powerpoint/2010/main" val="23004325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A7EF1D-928D-8503-4E90-FECBA8D671C0}"/>
              </a:ext>
            </a:extLst>
          </p:cNvPr>
          <p:cNvSpPr>
            <a:spLocks noGrp="1"/>
          </p:cNvSpPr>
          <p:nvPr>
            <p:ph type="title"/>
          </p:nvPr>
        </p:nvSpPr>
        <p:spPr>
          <a:xfrm>
            <a:off x="793662" y="386930"/>
            <a:ext cx="10066122" cy="1298448"/>
          </a:xfrm>
        </p:spPr>
        <p:txBody>
          <a:bodyPr anchor="b">
            <a:normAutofit/>
          </a:bodyPr>
          <a:lstStyle/>
          <a:p>
            <a:r>
              <a:rPr lang="fr-CA" sz="4800" noProof="0"/>
              <a:t>Déploiement avec TensorFlow Lite</a:t>
            </a:r>
          </a:p>
        </p:txBody>
      </p:sp>
      <p:sp>
        <p:nvSpPr>
          <p:cNvPr id="12" name="Rectangle 1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DD5F9AC-5DB1-556E-90BC-74433741170A}"/>
              </a:ext>
            </a:extLst>
          </p:cNvPr>
          <p:cNvSpPr>
            <a:spLocks noGrp="1"/>
          </p:cNvSpPr>
          <p:nvPr>
            <p:ph idx="1"/>
          </p:nvPr>
        </p:nvSpPr>
        <p:spPr>
          <a:xfrm>
            <a:off x="793661" y="2599509"/>
            <a:ext cx="4530898" cy="3639450"/>
          </a:xfrm>
        </p:spPr>
        <p:txBody>
          <a:bodyPr anchor="ctr">
            <a:normAutofit/>
          </a:bodyPr>
          <a:lstStyle/>
          <a:p>
            <a:r>
              <a:rPr lang="en-US" sz="2000" noProof="0"/>
              <a:t>Conversion du modele Keras en TensorFlow Lite</a:t>
            </a:r>
          </a:p>
          <a:p>
            <a:r>
              <a:rPr lang="en-US" sz="2000"/>
              <a:t>Réduit sa taille ce qui facilite integration</a:t>
            </a:r>
          </a:p>
          <a:p>
            <a:r>
              <a:rPr lang="en-US" sz="2000" noProof="0"/>
              <a:t>Améliore le </a:t>
            </a:r>
            <a:r>
              <a:rPr lang="fr-CA" sz="2000"/>
              <a:t>temps d’inférence</a:t>
            </a:r>
            <a:endParaRPr lang="fr-CA" sz="2000" noProof="0"/>
          </a:p>
        </p:txBody>
      </p:sp>
      <p:pic>
        <p:nvPicPr>
          <p:cNvPr id="5" name="Picture 4">
            <a:extLst>
              <a:ext uri="{FF2B5EF4-FFF2-40B4-BE49-F238E27FC236}">
                <a16:creationId xmlns:a16="http://schemas.microsoft.com/office/drawing/2014/main" id="{06B8BA29-915E-8D8C-3F16-B9704BCE5FD5}"/>
              </a:ext>
            </a:extLst>
          </p:cNvPr>
          <p:cNvPicPr>
            <a:picLocks noChangeAspect="1"/>
          </p:cNvPicPr>
          <p:nvPr/>
        </p:nvPicPr>
        <p:blipFill>
          <a:blip r:embed="rId3"/>
          <a:stretch>
            <a:fillRect/>
          </a:stretch>
        </p:blipFill>
        <p:spPr>
          <a:xfrm>
            <a:off x="5911532" y="2616035"/>
            <a:ext cx="5150277" cy="3450684"/>
          </a:xfrm>
          <a:prstGeom prst="rect">
            <a:avLst/>
          </a:prstGeom>
        </p:spPr>
      </p:pic>
      <p:sp>
        <p:nvSpPr>
          <p:cNvPr id="16" name="Rectangle 1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195604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08FDF638-7094-4E6D-B770-D81CEA115C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DFD30C-2663-C5D9-B17D-271B9FF0E340}"/>
              </a:ext>
            </a:extLst>
          </p:cNvPr>
          <p:cNvSpPr>
            <a:spLocks noGrp="1"/>
          </p:cNvSpPr>
          <p:nvPr>
            <p:ph type="title"/>
          </p:nvPr>
        </p:nvSpPr>
        <p:spPr>
          <a:xfrm>
            <a:off x="337497" y="679730"/>
            <a:ext cx="3124151" cy="3578593"/>
          </a:xfrm>
        </p:spPr>
        <p:txBody>
          <a:bodyPr vert="horz" lIns="91440" tIns="45720" rIns="91440" bIns="45720" rtlCol="0" anchor="b">
            <a:normAutofit/>
          </a:bodyPr>
          <a:lstStyle/>
          <a:p>
            <a:r>
              <a:rPr lang="en-US" sz="3900" kern="1200" noProof="0">
                <a:solidFill>
                  <a:schemeClr val="tx1"/>
                </a:solidFill>
                <a:latin typeface="+mj-lt"/>
                <a:ea typeface="+mj-ea"/>
                <a:cs typeface="+mj-cs"/>
              </a:rPr>
              <a:t>Comparaison des performances</a:t>
            </a:r>
          </a:p>
        </p:txBody>
      </p:sp>
      <p:grpSp>
        <p:nvGrpSpPr>
          <p:cNvPr id="16" name="Group 15">
            <a:extLst>
              <a:ext uri="{FF2B5EF4-FFF2-40B4-BE49-F238E27FC236}">
                <a16:creationId xmlns:a16="http://schemas.microsoft.com/office/drawing/2014/main" id="{3AF6A671-C637-4547-85F4-51B6D18813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416432" y="1"/>
            <a:ext cx="2446384" cy="5777808"/>
            <a:chOff x="329184" y="1"/>
            <a:chExt cx="524256" cy="5777808"/>
          </a:xfrm>
        </p:grpSpPr>
        <p:cxnSp>
          <p:nvCxnSpPr>
            <p:cNvPr id="17" name="Straight Connector 16">
              <a:extLst>
                <a:ext uri="{FF2B5EF4-FFF2-40B4-BE49-F238E27FC236}">
                  <a16:creationId xmlns:a16="http://schemas.microsoft.com/office/drawing/2014/main" id="{C575CF26-3D3C-4C5A-A2B7-00432016EF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1208"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Rectangle 19">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1084" y="679731"/>
            <a:ext cx="7682293" cy="56628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8694D7B1-6764-11E0-DE33-E5C8A5CD0DDC}"/>
              </a:ext>
            </a:extLst>
          </p:cNvPr>
          <p:cNvPicPr>
            <a:picLocks noChangeAspect="1"/>
          </p:cNvPicPr>
          <p:nvPr/>
        </p:nvPicPr>
        <p:blipFill>
          <a:blip r:embed="rId3"/>
          <a:srcRect r="2600" b="6"/>
          <a:stretch>
            <a:fillRect/>
          </a:stretch>
        </p:blipFill>
        <p:spPr>
          <a:xfrm>
            <a:off x="4125081" y="972235"/>
            <a:ext cx="3383280" cy="2414016"/>
          </a:xfrm>
          <a:prstGeom prst="rect">
            <a:avLst/>
          </a:prstGeom>
        </p:spPr>
      </p:pic>
      <p:pic>
        <p:nvPicPr>
          <p:cNvPr id="9" name="Picture 8">
            <a:extLst>
              <a:ext uri="{FF2B5EF4-FFF2-40B4-BE49-F238E27FC236}">
                <a16:creationId xmlns:a16="http://schemas.microsoft.com/office/drawing/2014/main" id="{BA16CBB1-79AD-48AD-7EC5-A05D56FCAAD3}"/>
              </a:ext>
            </a:extLst>
          </p:cNvPr>
          <p:cNvPicPr>
            <a:picLocks noChangeAspect="1"/>
          </p:cNvPicPr>
          <p:nvPr/>
        </p:nvPicPr>
        <p:blipFill>
          <a:blip r:embed="rId4"/>
          <a:srcRect l="16825" r="53042"/>
          <a:stretch>
            <a:fillRect/>
          </a:stretch>
        </p:blipFill>
        <p:spPr>
          <a:xfrm>
            <a:off x="4121338" y="3605954"/>
            <a:ext cx="3383280" cy="2414016"/>
          </a:xfrm>
          <a:prstGeom prst="rect">
            <a:avLst/>
          </a:prstGeom>
        </p:spPr>
      </p:pic>
      <p:pic>
        <p:nvPicPr>
          <p:cNvPr id="7" name="Picture 6">
            <a:extLst>
              <a:ext uri="{FF2B5EF4-FFF2-40B4-BE49-F238E27FC236}">
                <a16:creationId xmlns:a16="http://schemas.microsoft.com/office/drawing/2014/main" id="{B28ED4CE-9E23-3497-2859-ECF80AC7BC02}"/>
              </a:ext>
            </a:extLst>
          </p:cNvPr>
          <p:cNvPicPr>
            <a:picLocks noChangeAspect="1"/>
          </p:cNvPicPr>
          <p:nvPr/>
        </p:nvPicPr>
        <p:blipFill>
          <a:blip r:embed="rId5"/>
          <a:srcRect l="9410" r="29970"/>
          <a:stretch>
            <a:fillRect/>
          </a:stretch>
        </p:blipFill>
        <p:spPr>
          <a:xfrm>
            <a:off x="7755775" y="972235"/>
            <a:ext cx="3438144" cy="5047735"/>
          </a:xfrm>
          <a:prstGeom prst="rect">
            <a:avLst/>
          </a:prstGeom>
        </p:spPr>
      </p:pic>
    </p:spTree>
    <p:extLst>
      <p:ext uri="{BB962C8B-B14F-4D97-AF65-F5344CB8AC3E}">
        <p14:creationId xmlns:p14="http://schemas.microsoft.com/office/powerpoint/2010/main" val="27401016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310221-0D19-01E0-0B2E-F70473BFC1E4}"/>
              </a:ext>
            </a:extLst>
          </p:cNvPr>
          <p:cNvSpPr>
            <a:spLocks noGrp="1"/>
          </p:cNvSpPr>
          <p:nvPr>
            <p:ph type="title"/>
          </p:nvPr>
        </p:nvSpPr>
        <p:spPr>
          <a:xfrm>
            <a:off x="808638" y="386930"/>
            <a:ext cx="9236700" cy="1188950"/>
          </a:xfrm>
        </p:spPr>
        <p:txBody>
          <a:bodyPr anchor="b">
            <a:normAutofit/>
          </a:bodyPr>
          <a:lstStyle/>
          <a:p>
            <a:r>
              <a:rPr lang="fr-CA" sz="5000" noProof="0"/>
              <a:t>Répertoire GitHub avec README</a:t>
            </a:r>
          </a:p>
        </p:txBody>
      </p:sp>
      <p:grpSp>
        <p:nvGrpSpPr>
          <p:cNvPr id="6"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A72535D-583D-D7FD-CB43-A60874220B93}"/>
              </a:ext>
            </a:extLst>
          </p:cNvPr>
          <p:cNvSpPr>
            <a:spLocks noGrp="1"/>
          </p:cNvSpPr>
          <p:nvPr>
            <p:ph idx="1"/>
          </p:nvPr>
        </p:nvSpPr>
        <p:spPr>
          <a:xfrm>
            <a:off x="793660" y="2599509"/>
            <a:ext cx="10143668" cy="3435531"/>
          </a:xfrm>
        </p:spPr>
        <p:txBody>
          <a:bodyPr anchor="ctr">
            <a:normAutofit/>
          </a:bodyPr>
          <a:lstStyle/>
          <a:p>
            <a:r>
              <a:rPr lang="fr-CA" sz="2400" noProof="0"/>
              <a:t>Présentation du projet et objectifs</a:t>
            </a:r>
          </a:p>
          <a:p>
            <a:r>
              <a:rPr lang="fr-CA" sz="2400" noProof="0"/>
              <a:t>Téléchargement du jeu de données et prétraitement</a:t>
            </a:r>
          </a:p>
          <a:p>
            <a:r>
              <a:rPr lang="fr-CA" sz="2400" noProof="0"/>
              <a:t>Entraînement et évaluation du modèle</a:t>
            </a:r>
          </a:p>
          <a:p>
            <a:r>
              <a:rPr lang="fr-CA" sz="2400" noProof="0"/>
              <a:t>Analyse de l’empreinte carbone</a:t>
            </a:r>
          </a:p>
          <a:p>
            <a:r>
              <a:rPr lang="fr-CA" sz="2400" noProof="0"/>
              <a:t>Considérations éthiques et explicabilité</a:t>
            </a:r>
          </a:p>
          <a:p>
            <a:r>
              <a:rPr lang="fr-CA" sz="2400" noProof="0"/>
              <a:t>Déploiement sur système embarqué </a:t>
            </a:r>
          </a:p>
          <a:p>
            <a:endParaRPr lang="fr-CA" sz="2400" noProof="0"/>
          </a:p>
        </p:txBody>
      </p:sp>
    </p:spTree>
    <p:extLst>
      <p:ext uri="{BB962C8B-B14F-4D97-AF65-F5344CB8AC3E}">
        <p14:creationId xmlns:p14="http://schemas.microsoft.com/office/powerpoint/2010/main" val="14783906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BDFF239-7D8A-31E2-BF88-99C015598BEC}"/>
              </a:ext>
            </a:extLst>
          </p:cNvPr>
          <p:cNvSpPr>
            <a:spLocks noGrp="1"/>
          </p:cNvSpPr>
          <p:nvPr>
            <p:ph type="title"/>
          </p:nvPr>
        </p:nvSpPr>
        <p:spPr>
          <a:xfrm>
            <a:off x="808638" y="386930"/>
            <a:ext cx="9236700" cy="1188950"/>
          </a:xfrm>
        </p:spPr>
        <p:txBody>
          <a:bodyPr anchor="b">
            <a:normAutofit/>
          </a:bodyPr>
          <a:lstStyle/>
          <a:p>
            <a:r>
              <a:rPr lang="fr-CA" sz="3400" b="1" noProof="0"/>
              <a:t>Responsabilités liées à la publication du code</a:t>
            </a:r>
            <a:br>
              <a:rPr lang="fr-CA" sz="3400" b="1" noProof="0"/>
            </a:br>
            <a:endParaRPr lang="fr-CA" sz="3400" noProof="0"/>
          </a:p>
        </p:txBody>
      </p:sp>
      <p:grpSp>
        <p:nvGrpSpPr>
          <p:cNvPr id="6"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6EBF311-2D4F-2DBC-8F1E-AA75B8CD141F}"/>
              </a:ext>
            </a:extLst>
          </p:cNvPr>
          <p:cNvSpPr>
            <a:spLocks noGrp="1"/>
          </p:cNvSpPr>
          <p:nvPr>
            <p:ph idx="1"/>
          </p:nvPr>
        </p:nvSpPr>
        <p:spPr>
          <a:xfrm>
            <a:off x="793660" y="2599509"/>
            <a:ext cx="10143668" cy="3435531"/>
          </a:xfrm>
        </p:spPr>
        <p:txBody>
          <a:bodyPr anchor="ctr">
            <a:normAutofit/>
          </a:bodyPr>
          <a:lstStyle/>
          <a:p>
            <a:pPr marL="0" indent="0">
              <a:buNone/>
            </a:pPr>
            <a:r>
              <a:rPr lang="fr-CA" sz="2400" noProof="0"/>
              <a:t>Le code source est publié afin de :</a:t>
            </a:r>
          </a:p>
          <a:p>
            <a:r>
              <a:rPr lang="fr-CA" sz="2400" noProof="0"/>
              <a:t>Garantir la reproductibilité des résultats</a:t>
            </a:r>
          </a:p>
          <a:p>
            <a:r>
              <a:rPr lang="fr-CA" sz="2400" noProof="0"/>
              <a:t>Favoriser la transparence</a:t>
            </a:r>
          </a:p>
          <a:p>
            <a:r>
              <a:rPr lang="fr-CA" sz="2400" noProof="0"/>
              <a:t>Permettre la réutilisation à des fins académiques et éducatives</a:t>
            </a:r>
          </a:p>
          <a:p>
            <a:endParaRPr lang="fr-CA" sz="2400" noProof="0"/>
          </a:p>
        </p:txBody>
      </p:sp>
    </p:spTree>
    <p:extLst>
      <p:ext uri="{BB962C8B-B14F-4D97-AF65-F5344CB8AC3E}">
        <p14:creationId xmlns:p14="http://schemas.microsoft.com/office/powerpoint/2010/main" val="19906717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B9EDAB7-AF40-BC99-96E9-98F1FB1DA2C5}"/>
            </a:ext>
          </a:extLst>
        </p:cNvPr>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E4A9CF-D539-166D-F900-E020D29F9C16}"/>
              </a:ext>
            </a:extLst>
          </p:cNvPr>
          <p:cNvSpPr>
            <a:spLocks noGrp="1"/>
          </p:cNvSpPr>
          <p:nvPr>
            <p:ph type="title"/>
          </p:nvPr>
        </p:nvSpPr>
        <p:spPr>
          <a:xfrm>
            <a:off x="808638" y="386930"/>
            <a:ext cx="9236700" cy="1188950"/>
          </a:xfrm>
        </p:spPr>
        <p:txBody>
          <a:bodyPr anchor="b">
            <a:normAutofit/>
          </a:bodyPr>
          <a:lstStyle/>
          <a:p>
            <a:r>
              <a:rPr lang="fr-CA" sz="3800" b="1" noProof="0"/>
              <a:t>Licence open-source</a:t>
            </a:r>
            <a:br>
              <a:rPr lang="fr-CA" sz="3800" b="1" noProof="0"/>
            </a:br>
            <a:endParaRPr lang="fr-CA" sz="3800" noProof="0"/>
          </a:p>
        </p:txBody>
      </p:sp>
      <p:grpSp>
        <p:nvGrpSpPr>
          <p:cNvPr id="6"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01679A1-59F2-93F5-4EAD-8653B17C0E1C}"/>
              </a:ext>
            </a:extLst>
          </p:cNvPr>
          <p:cNvSpPr>
            <a:spLocks noGrp="1"/>
          </p:cNvSpPr>
          <p:nvPr>
            <p:ph idx="1"/>
          </p:nvPr>
        </p:nvSpPr>
        <p:spPr>
          <a:xfrm>
            <a:off x="793660" y="2599509"/>
            <a:ext cx="10143668" cy="3435531"/>
          </a:xfrm>
        </p:spPr>
        <p:txBody>
          <a:bodyPr anchor="ctr">
            <a:normAutofit/>
          </a:bodyPr>
          <a:lstStyle/>
          <a:p>
            <a:pPr marL="0" indent="0">
              <a:buNone/>
            </a:pPr>
            <a:r>
              <a:rPr lang="fr-CA" sz="2400" b="1" noProof="0"/>
              <a:t>Comparaison des licenses</a:t>
            </a:r>
          </a:p>
          <a:p>
            <a:r>
              <a:rPr lang="fr-CA" sz="2400" b="1" noProof="0"/>
              <a:t>GPL</a:t>
            </a:r>
            <a:r>
              <a:rPr lang="fr-CA" sz="2400" noProof="0"/>
              <a:t> : forte copyleft, impose que tout code dérivé soit également open-source. Peut limiter l’usage commercial.</a:t>
            </a:r>
          </a:p>
          <a:p>
            <a:r>
              <a:rPr lang="fr-CA" sz="2400" b="1" noProof="0"/>
              <a:t>Apache 2.0</a:t>
            </a:r>
            <a:r>
              <a:rPr lang="fr-CA" sz="2400" noProof="0"/>
              <a:t> : plus détaillée, inclut une protection des brevets, mais plus complexe à gérer.</a:t>
            </a:r>
          </a:p>
          <a:p>
            <a:r>
              <a:rPr lang="fr-CA" sz="2400" b="1"/>
              <a:t>MIT : </a:t>
            </a:r>
            <a:r>
              <a:rPr lang="fr-CA" sz="2400"/>
              <a:t>Courte, permissive, largement utilisée, permet à n’importe qui de copier, modifier, distribuer et utiliser le code.</a:t>
            </a:r>
          </a:p>
          <a:p>
            <a:endParaRPr lang="fr-CA" sz="2400" b="1"/>
          </a:p>
          <a:p>
            <a:endParaRPr lang="fr-CA" sz="2400" noProof="0"/>
          </a:p>
        </p:txBody>
      </p:sp>
    </p:spTree>
    <p:extLst>
      <p:ext uri="{BB962C8B-B14F-4D97-AF65-F5344CB8AC3E}">
        <p14:creationId xmlns:p14="http://schemas.microsoft.com/office/powerpoint/2010/main" val="11952979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CEDC62A-8ABC-AC6D-9207-D37BB43D3FC8}"/>
            </a:ext>
          </a:extLst>
        </p:cNvPr>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F0CE2A-E97F-A69F-FCEA-3DAD52209B43}"/>
              </a:ext>
            </a:extLst>
          </p:cNvPr>
          <p:cNvSpPr>
            <a:spLocks noGrp="1"/>
          </p:cNvSpPr>
          <p:nvPr>
            <p:ph type="title"/>
          </p:nvPr>
        </p:nvSpPr>
        <p:spPr>
          <a:xfrm>
            <a:off x="808638" y="386930"/>
            <a:ext cx="9236700" cy="1188950"/>
          </a:xfrm>
        </p:spPr>
        <p:txBody>
          <a:bodyPr anchor="b">
            <a:normAutofit/>
          </a:bodyPr>
          <a:lstStyle/>
          <a:p>
            <a:r>
              <a:rPr lang="fr-CA" sz="3800" b="1" noProof="0"/>
              <a:t>Licence open-source</a:t>
            </a:r>
            <a:br>
              <a:rPr lang="fr-CA" sz="3800" b="1" noProof="0"/>
            </a:br>
            <a:endParaRPr lang="fr-CA" sz="3800" noProof="0"/>
          </a:p>
        </p:txBody>
      </p:sp>
      <p:grpSp>
        <p:nvGrpSpPr>
          <p:cNvPr id="6"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FD220A2-C873-48EA-64F9-E5F809C10194}"/>
              </a:ext>
            </a:extLst>
          </p:cNvPr>
          <p:cNvSpPr>
            <a:spLocks noGrp="1"/>
          </p:cNvSpPr>
          <p:nvPr>
            <p:ph idx="1"/>
          </p:nvPr>
        </p:nvSpPr>
        <p:spPr>
          <a:xfrm>
            <a:off x="793660" y="2599509"/>
            <a:ext cx="10143668" cy="3435531"/>
          </a:xfrm>
        </p:spPr>
        <p:txBody>
          <a:bodyPr anchor="ctr">
            <a:normAutofit/>
          </a:bodyPr>
          <a:lstStyle/>
          <a:p>
            <a:pPr marL="0" indent="0">
              <a:buNone/>
            </a:pPr>
            <a:r>
              <a:rPr lang="fr-CA" sz="1900" b="1" noProof="0"/>
              <a:t>Implications de la licence</a:t>
            </a:r>
          </a:p>
          <a:p>
            <a:r>
              <a:rPr lang="fr-CA" sz="1900" b="1" noProof="0"/>
              <a:t>Transparence et collaboration</a:t>
            </a:r>
            <a:endParaRPr lang="fr-CA" sz="1900" noProof="0"/>
          </a:p>
          <a:p>
            <a:pPr lvl="1"/>
            <a:r>
              <a:rPr lang="fr-CA" sz="1900" noProof="0"/>
              <a:t>Utilisateurs/contributeurs savent exactement ce qu’ils peuvent faire avec le code.</a:t>
            </a:r>
          </a:p>
          <a:p>
            <a:pPr lvl="1"/>
            <a:r>
              <a:rPr lang="fr-CA" sz="1900" noProof="0"/>
              <a:t>Favorise collaboration et partage des améliorations.</a:t>
            </a:r>
          </a:p>
          <a:p>
            <a:r>
              <a:rPr lang="fr-CA" sz="1900" b="1" noProof="0"/>
              <a:t>Protection légale</a:t>
            </a:r>
            <a:endParaRPr lang="fr-CA" sz="1900" noProof="0"/>
          </a:p>
          <a:p>
            <a:pPr lvl="1"/>
            <a:r>
              <a:rPr lang="fr-CA" sz="1900" noProof="0"/>
              <a:t>Détenteur du projet </a:t>
            </a:r>
            <a:r>
              <a:rPr lang="fr-CA" sz="1900" b="1" noProof="0"/>
              <a:t> pas responsable des dommages</a:t>
            </a:r>
            <a:endParaRPr lang="fr-CA" sz="1900" noProof="0"/>
          </a:p>
          <a:p>
            <a:pPr lvl="1"/>
            <a:r>
              <a:rPr lang="fr-CA" sz="1900" noProof="0"/>
              <a:t>Utilisateur doit respecter la mention de la licence.</a:t>
            </a:r>
          </a:p>
          <a:p>
            <a:r>
              <a:rPr lang="fr-CA" sz="1900" b="1" noProof="0"/>
              <a:t>Compatibilité</a:t>
            </a:r>
            <a:endParaRPr lang="fr-CA" sz="1900" noProof="0"/>
          </a:p>
          <a:p>
            <a:pPr lvl="1"/>
            <a:r>
              <a:rPr lang="fr-CA" sz="1900" noProof="0"/>
              <a:t>La licence MIT est compatible avec la plupart des autres licences open-source, ce qui facilite l’intégration avec d’autres projets.</a:t>
            </a:r>
          </a:p>
          <a:p>
            <a:pPr marL="0" indent="0">
              <a:buNone/>
            </a:pPr>
            <a:endParaRPr lang="fr-CA" sz="1900" b="1" noProof="0"/>
          </a:p>
          <a:p>
            <a:endParaRPr lang="fr-CA" sz="1900" noProof="0"/>
          </a:p>
        </p:txBody>
      </p:sp>
    </p:spTree>
    <p:extLst>
      <p:ext uri="{BB962C8B-B14F-4D97-AF65-F5344CB8AC3E}">
        <p14:creationId xmlns:p14="http://schemas.microsoft.com/office/powerpoint/2010/main" val="7391342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5190A3-39C3-2A2F-9642-D540578D7209}"/>
              </a:ext>
            </a:extLst>
          </p:cNvPr>
          <p:cNvSpPr>
            <a:spLocks noGrp="1"/>
          </p:cNvSpPr>
          <p:nvPr>
            <p:ph type="title"/>
          </p:nvPr>
        </p:nvSpPr>
        <p:spPr>
          <a:xfrm>
            <a:off x="808638" y="386930"/>
            <a:ext cx="9236700" cy="1188950"/>
          </a:xfrm>
        </p:spPr>
        <p:txBody>
          <a:bodyPr anchor="b">
            <a:normAutofit/>
          </a:bodyPr>
          <a:lstStyle/>
          <a:p>
            <a:r>
              <a:rPr lang="fr-CA" sz="3800" b="1" noProof="0"/>
              <a:t>Pratiques de publication et collaboration</a:t>
            </a:r>
            <a:br>
              <a:rPr lang="fr-CA" sz="3800" b="1" noProof="0"/>
            </a:br>
            <a:endParaRPr lang="fr-CA" sz="3800" noProof="0"/>
          </a:p>
        </p:txBody>
      </p:sp>
      <p:grpSp>
        <p:nvGrpSpPr>
          <p:cNvPr id="6"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56E8466-292B-1B71-D3A0-7793898EEE97}"/>
              </a:ext>
            </a:extLst>
          </p:cNvPr>
          <p:cNvSpPr>
            <a:spLocks noGrp="1"/>
          </p:cNvSpPr>
          <p:nvPr>
            <p:ph idx="1"/>
          </p:nvPr>
        </p:nvSpPr>
        <p:spPr>
          <a:xfrm>
            <a:off x="793660" y="2599509"/>
            <a:ext cx="10143668" cy="3435531"/>
          </a:xfrm>
        </p:spPr>
        <p:txBody>
          <a:bodyPr anchor="ctr">
            <a:normAutofit/>
          </a:bodyPr>
          <a:lstStyle/>
          <a:p>
            <a:r>
              <a:rPr lang="fr-CA" sz="2400" noProof="0"/>
              <a:t>Code privé : Transparence limitée, Pas de collaboration, Maintenance dépend d’une seule personne</a:t>
            </a:r>
          </a:p>
          <a:p>
            <a:r>
              <a:rPr lang="fr-CA" sz="2400" noProof="0"/>
              <a:t>Publication partielle : Transparence incomplète, Collaboration limitée, Maintenance compliquée</a:t>
            </a:r>
          </a:p>
          <a:p>
            <a:r>
              <a:rPr lang="fr-CA" sz="2400" noProof="0"/>
              <a:t>Publication complète (MIT) : Transparence maximale, Collaboration facilitée (pull requests, issues), Maintenance suivie</a:t>
            </a:r>
          </a:p>
          <a:p>
            <a:r>
              <a:rPr lang="fr-CA" sz="2400" noProof="0"/>
              <a:t>Documentation détaillée : Reproductibilité excellente, Intégration rapide des contributeurs, Maintenance plus efficace</a:t>
            </a:r>
          </a:p>
        </p:txBody>
      </p:sp>
    </p:spTree>
    <p:extLst>
      <p:ext uri="{BB962C8B-B14F-4D97-AF65-F5344CB8AC3E}">
        <p14:creationId xmlns:p14="http://schemas.microsoft.com/office/powerpoint/2010/main" val="10312072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AD790F-3335-289C-A91C-AB3B77B6B138}"/>
              </a:ext>
            </a:extLst>
          </p:cNvPr>
          <p:cNvSpPr>
            <a:spLocks noGrp="1"/>
          </p:cNvSpPr>
          <p:nvPr>
            <p:ph type="title"/>
          </p:nvPr>
        </p:nvSpPr>
        <p:spPr>
          <a:xfrm>
            <a:off x="808638" y="386930"/>
            <a:ext cx="9236700" cy="1188950"/>
          </a:xfrm>
        </p:spPr>
        <p:txBody>
          <a:bodyPr anchor="b">
            <a:normAutofit/>
          </a:bodyPr>
          <a:lstStyle/>
          <a:p>
            <a:r>
              <a:rPr lang="fr-CA" sz="3400" b="1" noProof="0"/>
              <a:t>Protocole de signalement et correction des bugs</a:t>
            </a:r>
            <a:br>
              <a:rPr lang="fr-CA" sz="3400" b="1" noProof="0"/>
            </a:br>
            <a:endParaRPr lang="fr-CA" sz="3400" noProof="0"/>
          </a:p>
        </p:txBody>
      </p:sp>
      <p:grpSp>
        <p:nvGrpSpPr>
          <p:cNvPr id="6"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ECD30BE-4681-596B-AB31-940A294BD951}"/>
              </a:ext>
            </a:extLst>
          </p:cNvPr>
          <p:cNvSpPr>
            <a:spLocks noGrp="1"/>
          </p:cNvSpPr>
          <p:nvPr>
            <p:ph idx="1"/>
          </p:nvPr>
        </p:nvSpPr>
        <p:spPr>
          <a:xfrm>
            <a:off x="793660" y="2599509"/>
            <a:ext cx="10143668" cy="3435531"/>
          </a:xfrm>
        </p:spPr>
        <p:txBody>
          <a:bodyPr anchor="ctr">
            <a:normAutofit/>
          </a:bodyPr>
          <a:lstStyle/>
          <a:p>
            <a:pPr marL="0" indent="0">
              <a:buNone/>
            </a:pPr>
            <a:r>
              <a:rPr lang="fr-CA" sz="1300" b="1" noProof="0"/>
              <a:t>Signaler un bug</a:t>
            </a:r>
          </a:p>
          <a:p>
            <a:r>
              <a:rPr lang="fr-CA" sz="1300" noProof="0"/>
              <a:t>Créer une </a:t>
            </a:r>
            <a:r>
              <a:rPr lang="fr-CA" sz="1300" b="1" noProof="0"/>
              <a:t>issue</a:t>
            </a:r>
            <a:r>
              <a:rPr lang="fr-CA" sz="1300" noProof="0"/>
              <a:t> avec un titre clair</a:t>
            </a:r>
          </a:p>
          <a:p>
            <a:r>
              <a:rPr lang="fr-CA" sz="1300" noProof="0"/>
              <a:t>Décrire le problème</a:t>
            </a:r>
          </a:p>
          <a:p>
            <a:r>
              <a:rPr lang="fr-CA" sz="1300" noProof="0"/>
              <a:t>Indiquer les étapes pour reproduire + messages d’erreur</a:t>
            </a:r>
          </a:p>
          <a:p>
            <a:pPr marL="0" indent="0">
              <a:buNone/>
            </a:pPr>
            <a:r>
              <a:rPr lang="fr-CA" sz="1300" b="1" noProof="0"/>
              <a:t> Corriger un bug</a:t>
            </a:r>
          </a:p>
          <a:p>
            <a:r>
              <a:rPr lang="fr-CA" sz="1300" noProof="0"/>
              <a:t>Créer une « pull request </a:t>
            </a:r>
            <a:r>
              <a:rPr lang="fr-CA" sz="1300" b="1" noProof="0"/>
              <a:t>»</a:t>
            </a:r>
            <a:endParaRPr lang="fr-CA" sz="1300" noProof="0"/>
          </a:p>
          <a:p>
            <a:r>
              <a:rPr lang="fr-CA" sz="1300" noProof="0"/>
              <a:t>Expliquer le bug corrigé</a:t>
            </a:r>
          </a:p>
          <a:p>
            <a:r>
              <a:rPr lang="fr-CA" sz="1300" noProof="0"/>
              <a:t>Décrire les modifications apportées</a:t>
            </a:r>
          </a:p>
          <a:p>
            <a:pPr marL="0" indent="0">
              <a:buNone/>
            </a:pPr>
            <a:r>
              <a:rPr lang="fr-CA" sz="1300" b="1" noProof="0"/>
              <a:t> Validation</a:t>
            </a:r>
          </a:p>
          <a:p>
            <a:r>
              <a:rPr lang="fr-CA" sz="1300" noProof="0"/>
              <a:t>Revue du code</a:t>
            </a:r>
          </a:p>
          <a:p>
            <a:r>
              <a:rPr lang="fr-CA" sz="1300" noProof="0"/>
              <a:t>Approbation avant fusion dans la branche principale</a:t>
            </a:r>
          </a:p>
          <a:p>
            <a:endParaRPr lang="fr-CA" sz="1300" noProof="0"/>
          </a:p>
        </p:txBody>
      </p:sp>
    </p:spTree>
    <p:extLst>
      <p:ext uri="{BB962C8B-B14F-4D97-AF65-F5344CB8AC3E}">
        <p14:creationId xmlns:p14="http://schemas.microsoft.com/office/powerpoint/2010/main" val="2134508464"/>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B7D814D0D41FA4A88C2B37EFA3678D5" ma:contentTypeVersion="18" ma:contentTypeDescription="Crée un document." ma:contentTypeScope="" ma:versionID="8efaad22abe53ee7b769689bf60bec71">
  <xsd:schema xmlns:xsd="http://www.w3.org/2001/XMLSchema" xmlns:xs="http://www.w3.org/2001/XMLSchema" xmlns:p="http://schemas.microsoft.com/office/2006/metadata/properties" xmlns:ns3="9d5b4864-b542-46b4-b79e-e48f53bf5015" xmlns:ns4="67415c79-3b8d-4691-9a08-37169998c51f" targetNamespace="http://schemas.microsoft.com/office/2006/metadata/properties" ma:root="true" ma:fieldsID="3cafc141c1f93efb7c29a598a0b3d866" ns3:_="" ns4:_="">
    <xsd:import namespace="9d5b4864-b542-46b4-b79e-e48f53bf5015"/>
    <xsd:import namespace="67415c79-3b8d-4691-9a08-37169998c51f"/>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LengthInSeconds" minOccurs="0"/>
                <xsd:element ref="ns3:MediaServiceAutoKeyPoints" minOccurs="0"/>
                <xsd:element ref="ns3:MediaServiceKeyPoints" minOccurs="0"/>
                <xsd:element ref="ns4:SharedWithUsers" minOccurs="0"/>
                <xsd:element ref="ns4:SharedWithDetails" minOccurs="0"/>
                <xsd:element ref="ns4:SharingHintHash" minOccurs="0"/>
                <xsd:element ref="ns3:MediaServiceOCR" minOccurs="0"/>
                <xsd:element ref="ns3:MediaServiceGenerationTime" minOccurs="0"/>
                <xsd:element ref="ns3:MediaServiceEventHashCode" minOccurs="0"/>
                <xsd:element ref="ns3:_activity" minOccurs="0"/>
                <xsd:element ref="ns3:MediaServiceObjectDetectorVersions" minOccurs="0"/>
                <xsd:element ref="ns3:MediaServiceSearchProperties" minOccurs="0"/>
                <xsd:element ref="ns3:MediaServiceSystemTag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d5b4864-b542-46b4-b79e-e48f53bf501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description="" ma:hidden="true" ma:indexed="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_activity" ma:index="21" nillable="true" ma:displayName="_activity" ma:hidden="true" ma:internalName="_activity">
      <xsd:simpleType>
        <xsd:restriction base="dms:Note"/>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Location" ma:index="25"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7415c79-3b8d-4691-9a08-37169998c51f" elementFormDefault="qualified">
    <xsd:import namespace="http://schemas.microsoft.com/office/2006/documentManagement/types"/>
    <xsd:import namespace="http://schemas.microsoft.com/office/infopath/2007/PartnerControls"/>
    <xsd:element name="SharedWithUsers" ma:index="15"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Partagé avec détails" ma:internalName="SharedWithDetails" ma:readOnly="true">
      <xsd:simpleType>
        <xsd:restriction base="dms:Note">
          <xsd:maxLength value="255"/>
        </xsd:restriction>
      </xsd:simpleType>
    </xsd:element>
    <xsd:element name="SharingHintHash" ma:index="17" nillable="true" ma:displayName="Partage du hachage d’indicateur"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9d5b4864-b542-46b4-b79e-e48f53bf5015" xsi:nil="true"/>
  </documentManagement>
</p:properties>
</file>

<file path=customXml/itemProps1.xml><?xml version="1.0" encoding="utf-8"?>
<ds:datastoreItem xmlns:ds="http://schemas.openxmlformats.org/officeDocument/2006/customXml" ds:itemID="{45656EBB-1529-4FC1-96EE-042FC70A55D1}">
  <ds:schemaRefs>
    <ds:schemaRef ds:uri="http://schemas.microsoft.com/sharepoint/v3/contenttype/forms"/>
  </ds:schemaRefs>
</ds:datastoreItem>
</file>

<file path=customXml/itemProps2.xml><?xml version="1.0" encoding="utf-8"?>
<ds:datastoreItem xmlns:ds="http://schemas.openxmlformats.org/officeDocument/2006/customXml" ds:itemID="{1D42F590-876A-45C8-87D0-17E1C64F1DB8}">
  <ds:schemaRefs>
    <ds:schemaRef ds:uri="67415c79-3b8d-4691-9a08-37169998c51f"/>
    <ds:schemaRef ds:uri="9d5b4864-b542-46b4-b79e-e48f53bf501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5ECB2CBC-2478-4C4A-827E-F1F982056093}">
  <ds:schemaRefs>
    <ds:schemaRef ds:uri="http://www.w3.org/XML/1998/namespace"/>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67415c79-3b8d-4691-9a08-37169998c51f"/>
    <ds:schemaRef ds:uri="http://purl.org/dc/elements/1.1/"/>
    <ds:schemaRef ds:uri="9d5b4864-b542-46b4-b79e-e48f53bf5015"/>
    <ds:schemaRef ds:uri="http://schemas.microsoft.com/office/2006/metadata/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otalTime>0</TotalTime>
  <Words>1104</Words>
  <Application>Microsoft Office PowerPoint</Application>
  <PresentationFormat>Widescreen</PresentationFormat>
  <Paragraphs>104</Paragraphs>
  <Slides>24</Slides>
  <Notes>3</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24</vt:i4>
      </vt:variant>
    </vt:vector>
  </HeadingPairs>
  <TitlesOfParts>
    <vt:vector size="30" baseType="lpstr">
      <vt:lpstr>Aptos</vt:lpstr>
      <vt:lpstr>Aptos Display</vt:lpstr>
      <vt:lpstr>Arial</vt:lpstr>
      <vt:lpstr>Times New Roman</vt:lpstr>
      <vt:lpstr>Thème Office</vt:lpstr>
      <vt:lpstr>1_Thème Office</vt:lpstr>
      <vt:lpstr>GEI-1092 Techniques d'intelligence artificielle  Building a Sentiment Analysis System for Movie Reviews Presenté  à M. Ahmed Ouameur MESSAOUD Par :</vt:lpstr>
      <vt:lpstr>Introduction </vt:lpstr>
      <vt:lpstr>Data Preparation </vt:lpstr>
      <vt:lpstr>Tokenization and Sequence Vectorization</vt:lpstr>
      <vt:lpstr> Model Design and Training</vt:lpstr>
      <vt:lpstr>Model Design and Training</vt:lpstr>
      <vt:lpstr>Model Design and Training</vt:lpstr>
      <vt:lpstr>Carbon Footprint Analysis</vt:lpstr>
      <vt:lpstr>Model Evaluation</vt:lpstr>
      <vt:lpstr>Model Evaluation</vt:lpstr>
      <vt:lpstr>Model Evaluation</vt:lpstr>
      <vt:lpstr>Model Evaluation</vt:lpstr>
      <vt:lpstr>Explainability with SHAP and LIME</vt:lpstr>
      <vt:lpstr>Explainability with SHAP and LIME</vt:lpstr>
      <vt:lpstr>Exemples d’interprétation</vt:lpstr>
      <vt:lpstr>Considérations éthiques</vt:lpstr>
      <vt:lpstr>Déploiement avec TensorFlow Lite</vt:lpstr>
      <vt:lpstr>Comparaison des performances</vt:lpstr>
      <vt:lpstr>Répertoire GitHub avec README</vt:lpstr>
      <vt:lpstr>Responsabilités liées à la publication du code </vt:lpstr>
      <vt:lpstr>Licence open-source </vt:lpstr>
      <vt:lpstr>Licence open-source </vt:lpstr>
      <vt:lpstr>Pratiques de publication et collaboration </vt:lpstr>
      <vt:lpstr>Protocole de signalement et correction des bugs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Nsamba, Deborah</dc:creator>
  <cp:lastModifiedBy>Ben Yahia, Walid</cp:lastModifiedBy>
  <cp:revision>1</cp:revision>
  <dcterms:created xsi:type="dcterms:W3CDTF">2026-04-01T21:41:06Z</dcterms:created>
  <dcterms:modified xsi:type="dcterms:W3CDTF">2026-04-04T02:26:04Z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0x0101002B7D814D0D41FA4A88C2B37EFA3678D5</vt:lpwstr>
  </property>
</Properties>
</file>